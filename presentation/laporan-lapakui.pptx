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IBM Plex Mono Bold" charset="1" panose="020B0809050203000203"/>
      <p:regular r:id="rId19"/>
    </p:embeddedFont>
    <p:embeddedFont>
      <p:font typeface="Glacial Indifference Bold" charset="1" panose="00000800000000000000"/>
      <p:regular r:id="rId20"/>
    </p:embeddedFont>
    <p:embeddedFont>
      <p:font typeface="Fredoka" charset="1" panose="020000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3.jpe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84895" y="3382236"/>
            <a:ext cx="12518210" cy="233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15"/>
              </a:lnSpc>
              <a:spcBef>
                <a:spcPct val="0"/>
              </a:spcBef>
            </a:pPr>
            <a:r>
              <a:rPr lang="en-US" b="true" sz="12939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LAPAK UI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13455" y="2699868"/>
            <a:ext cx="3313942" cy="1338004"/>
          </a:xfrm>
          <a:custGeom>
            <a:avLst/>
            <a:gdLst/>
            <a:ahLst/>
            <a:cxnLst/>
            <a:rect r="r" b="b" t="t" l="l"/>
            <a:pathLst>
              <a:path h="1338004" w="3313942">
                <a:moveTo>
                  <a:pt x="0" y="0"/>
                </a:moveTo>
                <a:lnTo>
                  <a:pt x="3313942" y="0"/>
                </a:lnTo>
                <a:lnTo>
                  <a:pt x="3313942" y="1338004"/>
                </a:lnTo>
                <a:lnTo>
                  <a:pt x="0" y="1338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296015">
            <a:off x="13472398" y="5880388"/>
            <a:ext cx="3755381" cy="894817"/>
            <a:chOff x="0" y="0"/>
            <a:chExt cx="5007175" cy="119308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5007175" cy="1193089"/>
              <a:chOff x="0" y="0"/>
              <a:chExt cx="664088" cy="15823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64088" cy="158236"/>
              </a:xfrm>
              <a:custGeom>
                <a:avLst/>
                <a:gdLst/>
                <a:ahLst/>
                <a:cxnLst/>
                <a:rect r="r" b="b" t="t" l="l"/>
                <a:pathLst>
                  <a:path h="158236" w="664088">
                    <a:moveTo>
                      <a:pt x="0" y="0"/>
                    </a:moveTo>
                    <a:lnTo>
                      <a:pt x="664088" y="0"/>
                    </a:lnTo>
                    <a:lnTo>
                      <a:pt x="664088" y="158236"/>
                    </a:lnTo>
                    <a:lnTo>
                      <a:pt x="0" y="158236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76200"/>
                <a:ext cx="664088" cy="2344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18904" y="15207"/>
              <a:ext cx="3969366" cy="1124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73"/>
                </a:lnSpc>
              </a:pPr>
              <a:r>
                <a:rPr lang="en-US" b="true" sz="5361" spc="-107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2681874" cy="1468295"/>
            <a:chOff x="0" y="0"/>
            <a:chExt cx="3575832" cy="195772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3575832" cy="1957727"/>
              <a:chOff x="0" y="0"/>
              <a:chExt cx="706337" cy="38671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06337" cy="386711"/>
              </a:xfrm>
              <a:custGeom>
                <a:avLst/>
                <a:gdLst/>
                <a:ahLst/>
                <a:cxnLst/>
                <a:rect r="r" b="b" t="t" l="l"/>
                <a:pathLst>
                  <a:path h="386711" w="706337">
                    <a:moveTo>
                      <a:pt x="57735" y="0"/>
                    </a:moveTo>
                    <a:lnTo>
                      <a:pt x="648602" y="0"/>
                    </a:lnTo>
                    <a:cubicBezTo>
                      <a:pt x="680488" y="0"/>
                      <a:pt x="706337" y="25849"/>
                      <a:pt x="706337" y="57735"/>
                    </a:cubicBezTo>
                    <a:lnTo>
                      <a:pt x="706337" y="328976"/>
                    </a:lnTo>
                    <a:cubicBezTo>
                      <a:pt x="706337" y="360863"/>
                      <a:pt x="680488" y="386711"/>
                      <a:pt x="648602" y="386711"/>
                    </a:cubicBezTo>
                    <a:lnTo>
                      <a:pt x="57735" y="386711"/>
                    </a:lnTo>
                    <a:cubicBezTo>
                      <a:pt x="25849" y="386711"/>
                      <a:pt x="0" y="360863"/>
                      <a:pt x="0" y="328976"/>
                    </a:cubicBezTo>
                    <a:lnTo>
                      <a:pt x="0" y="57735"/>
                    </a:lnTo>
                    <a:cubicBezTo>
                      <a:pt x="0" y="25849"/>
                      <a:pt x="25849" y="0"/>
                      <a:pt x="577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706337" cy="3676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1574223"/>
              <a:ext cx="3575832" cy="383504"/>
              <a:chOff x="0" y="0"/>
              <a:chExt cx="706337" cy="7575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06337" cy="75754"/>
              </a:xfrm>
              <a:custGeom>
                <a:avLst/>
                <a:gdLst/>
                <a:ahLst/>
                <a:cxnLst/>
                <a:rect r="r" b="b" t="t" l="l"/>
                <a:pathLst>
                  <a:path h="75754" w="706337">
                    <a:moveTo>
                      <a:pt x="28868" y="0"/>
                    </a:moveTo>
                    <a:lnTo>
                      <a:pt x="677470" y="0"/>
                    </a:lnTo>
                    <a:cubicBezTo>
                      <a:pt x="693413" y="0"/>
                      <a:pt x="706337" y="12924"/>
                      <a:pt x="706337" y="28868"/>
                    </a:cubicBezTo>
                    <a:lnTo>
                      <a:pt x="706337" y="46886"/>
                    </a:lnTo>
                    <a:cubicBezTo>
                      <a:pt x="706337" y="54542"/>
                      <a:pt x="703296" y="61885"/>
                      <a:pt x="697882" y="67299"/>
                    </a:cubicBezTo>
                    <a:cubicBezTo>
                      <a:pt x="692468" y="72712"/>
                      <a:pt x="685126" y="75754"/>
                      <a:pt x="677470" y="75754"/>
                    </a:cubicBezTo>
                    <a:lnTo>
                      <a:pt x="28868" y="75754"/>
                    </a:lnTo>
                    <a:cubicBezTo>
                      <a:pt x="12924" y="75754"/>
                      <a:pt x="0" y="62829"/>
                      <a:pt x="0" y="46886"/>
                    </a:cubicBezTo>
                    <a:lnTo>
                      <a:pt x="0" y="28868"/>
                    </a:lnTo>
                    <a:cubicBezTo>
                      <a:pt x="0" y="12924"/>
                      <a:pt x="12924" y="0"/>
                      <a:pt x="28868" y="0"/>
                    </a:cubicBezTo>
                    <a:close/>
                  </a:path>
                </a:pathLst>
              </a:custGeom>
              <a:solidFill>
                <a:srgbClr val="76B3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706337" cy="56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23910"/>
              <a:ext cx="3575832" cy="1713185"/>
              <a:chOff x="0" y="0"/>
              <a:chExt cx="706337" cy="33840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06337" cy="338407"/>
              </a:xfrm>
              <a:custGeom>
                <a:avLst/>
                <a:gdLst/>
                <a:ahLst/>
                <a:cxnLst/>
                <a:rect r="r" b="b" t="t" l="l"/>
                <a:pathLst>
                  <a:path h="338407" w="706337">
                    <a:moveTo>
                      <a:pt x="0" y="0"/>
                    </a:moveTo>
                    <a:lnTo>
                      <a:pt x="706337" y="0"/>
                    </a:lnTo>
                    <a:lnTo>
                      <a:pt x="706337" y="338407"/>
                    </a:lnTo>
                    <a:lnTo>
                      <a:pt x="0" y="338407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706337" cy="319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221509" y="459845"/>
              <a:ext cx="3132815" cy="1241378"/>
            </a:xfrm>
            <a:custGeom>
              <a:avLst/>
              <a:gdLst/>
              <a:ahLst/>
              <a:cxnLst/>
              <a:rect r="r" b="b" t="t" l="l"/>
              <a:pathLst>
                <a:path h="1241378" w="3132815">
                  <a:moveTo>
                    <a:pt x="0" y="0"/>
                  </a:moveTo>
                  <a:lnTo>
                    <a:pt x="3132815" y="0"/>
                  </a:lnTo>
                  <a:lnTo>
                    <a:pt x="3132815" y="1241378"/>
                  </a:lnTo>
                  <a:lnTo>
                    <a:pt x="0" y="1241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6252596" y="47296"/>
            <a:ext cx="1771978" cy="1727444"/>
          </a:xfrm>
          <a:custGeom>
            <a:avLst/>
            <a:gdLst/>
            <a:ahLst/>
            <a:cxnLst/>
            <a:rect r="r" b="b" t="t" l="l"/>
            <a:pathLst>
              <a:path h="1727444" w="1771978">
                <a:moveTo>
                  <a:pt x="0" y="0"/>
                </a:moveTo>
                <a:lnTo>
                  <a:pt x="1771977" y="0"/>
                </a:lnTo>
                <a:lnTo>
                  <a:pt x="1771977" y="1727444"/>
                </a:lnTo>
                <a:lnTo>
                  <a:pt x="0" y="1727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37386" y="2790588"/>
            <a:ext cx="2466080" cy="113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7"/>
              </a:lnSpc>
            </a:pPr>
            <a:r>
              <a:rPr lang="en-US" b="true" sz="3741" spc="-74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FINAL 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37133" y="9686865"/>
            <a:ext cx="3087440" cy="518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1"/>
              </a:lnSpc>
            </a:pPr>
            <a:r>
              <a:rPr lang="en-US" b="true" sz="3522" spc="-70">
                <a:solidFill>
                  <a:srgbClr val="B22222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KELOMPOK 12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62856" y="5876261"/>
            <a:ext cx="5906542" cy="90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b="true" sz="3020" spc="-6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MARKETPLACE &amp; COMMUNITY PLATFORM FOR UI STUDENTS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0" y="9658290"/>
            <a:ext cx="10125653" cy="50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b="true" sz="3222" spc="-64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PRAKTIKUM SISTEM BASIS DATA — FTUI 2025/2026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338476">
            <a:off x="662454" y="1185580"/>
            <a:ext cx="7489234" cy="883233"/>
            <a:chOff x="0" y="0"/>
            <a:chExt cx="9985645" cy="117764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48935" y="80979"/>
              <a:ext cx="9836711" cy="1096666"/>
              <a:chOff x="0" y="0"/>
              <a:chExt cx="1203618" cy="13418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03618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1203618">
                    <a:moveTo>
                      <a:pt x="0" y="0"/>
                    </a:moveTo>
                    <a:lnTo>
                      <a:pt x="1203618" y="0"/>
                    </a:lnTo>
                    <a:lnTo>
                      <a:pt x="1203618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76200"/>
                <a:ext cx="1203618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9985645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DAFTAR ISI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2330804">
            <a:off x="17505374" y="1367919"/>
            <a:ext cx="1565253" cy="1371553"/>
          </a:xfrm>
          <a:custGeom>
            <a:avLst/>
            <a:gdLst/>
            <a:ahLst/>
            <a:cxnLst/>
            <a:rect r="r" b="b" t="t" l="l"/>
            <a:pathLst>
              <a:path h="1371553" w="1565253">
                <a:moveTo>
                  <a:pt x="0" y="0"/>
                </a:moveTo>
                <a:lnTo>
                  <a:pt x="1565252" y="0"/>
                </a:lnTo>
                <a:lnTo>
                  <a:pt x="1565252" y="1371552"/>
                </a:lnTo>
                <a:lnTo>
                  <a:pt x="0" y="1371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688574" y="8984994"/>
            <a:ext cx="1717274" cy="1302006"/>
          </a:xfrm>
          <a:custGeom>
            <a:avLst/>
            <a:gdLst/>
            <a:ahLst/>
            <a:cxnLst/>
            <a:rect r="r" b="b" t="t" l="l"/>
            <a:pathLst>
              <a:path h="1302006" w="1717274">
                <a:moveTo>
                  <a:pt x="0" y="0"/>
                </a:moveTo>
                <a:lnTo>
                  <a:pt x="1717274" y="0"/>
                </a:lnTo>
                <a:lnTo>
                  <a:pt x="1717274" y="1302006"/>
                </a:lnTo>
                <a:lnTo>
                  <a:pt x="0" y="13020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045955" y="3612983"/>
            <a:ext cx="737115" cy="7371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247383" y="3655468"/>
            <a:ext cx="2107853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47383" y="4669202"/>
            <a:ext cx="230964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47383" y="6856416"/>
            <a:ext cx="230964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3622449"/>
            <a:ext cx="230964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MARKET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4669202"/>
            <a:ext cx="421570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STACK &amp; 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5683297"/>
            <a:ext cx="1300557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FITUR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6839906"/>
            <a:ext cx="908133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API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45955" y="4634753"/>
            <a:ext cx="737115" cy="73711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045955" y="5657618"/>
            <a:ext cx="737115" cy="73711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45955" y="6797420"/>
            <a:ext cx="737115" cy="73711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76963" y="3612983"/>
            <a:ext cx="737115" cy="73711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76963" y="4626717"/>
            <a:ext cx="737115" cy="73711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76963" y="5657618"/>
            <a:ext cx="737115" cy="73711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326605" y="3651024"/>
            <a:ext cx="175816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283048" y="4697777"/>
            <a:ext cx="26293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83246" y="5728678"/>
            <a:ext cx="262533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83693" y="6868481"/>
            <a:ext cx="25568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431072" y="3651024"/>
            <a:ext cx="22889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424623" y="4697777"/>
            <a:ext cx="241796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424375" y="5728678"/>
            <a:ext cx="24229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7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176963" y="6813930"/>
            <a:ext cx="737115" cy="73711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7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8431072" y="6868481"/>
            <a:ext cx="251321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8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247383" y="5683297"/>
            <a:ext cx="345333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ALUR RESERVASI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7538" y="1896546"/>
            <a:ext cx="9540430" cy="25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6"/>
              </a:lnSpc>
              <a:spcBef>
                <a:spcPct val="0"/>
              </a:spcBef>
            </a:pPr>
            <a:r>
              <a:rPr lang="en-US" b="true" sz="14047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grpSp>
        <p:nvGrpSpPr>
          <p:cNvPr name="Group 4" id="4"/>
          <p:cNvGrpSpPr/>
          <p:nvPr/>
        </p:nvGrpSpPr>
        <p:grpSpPr>
          <a:xfrm rot="-338476">
            <a:off x="724861" y="1854979"/>
            <a:ext cx="2514173" cy="883233"/>
            <a:chOff x="0" y="0"/>
            <a:chExt cx="3352231" cy="11776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40489"/>
              <a:ext cx="3352231" cy="1096666"/>
              <a:chOff x="0" y="0"/>
              <a:chExt cx="410179" cy="1341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10178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410178">
                    <a:moveTo>
                      <a:pt x="0" y="0"/>
                    </a:moveTo>
                    <a:lnTo>
                      <a:pt x="410178" y="0"/>
                    </a:lnTo>
                    <a:lnTo>
                      <a:pt x="410178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410179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40465" y="-28575"/>
              <a:ext cx="2071302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33795" y="3491501"/>
            <a:ext cx="6754205" cy="4017127"/>
            <a:chOff x="0" y="0"/>
            <a:chExt cx="1469441" cy="8739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9441" cy="873964"/>
            </a:xfrm>
            <a:custGeom>
              <a:avLst/>
              <a:gdLst/>
              <a:ahLst/>
              <a:cxnLst/>
              <a:rect r="r" b="b" t="t" l="l"/>
              <a:pathLst>
                <a:path h="873964" w="1469441">
                  <a:moveTo>
                    <a:pt x="26363" y="0"/>
                  </a:moveTo>
                  <a:lnTo>
                    <a:pt x="1443077" y="0"/>
                  </a:lnTo>
                  <a:cubicBezTo>
                    <a:pt x="1450069" y="0"/>
                    <a:pt x="1456775" y="2778"/>
                    <a:pt x="1461719" y="7722"/>
                  </a:cubicBezTo>
                  <a:cubicBezTo>
                    <a:pt x="1466663" y="12666"/>
                    <a:pt x="1469441" y="19371"/>
                    <a:pt x="1469441" y="26363"/>
                  </a:cubicBezTo>
                  <a:lnTo>
                    <a:pt x="1469441" y="847600"/>
                  </a:lnTo>
                  <a:cubicBezTo>
                    <a:pt x="1469441" y="854592"/>
                    <a:pt x="1466663" y="861298"/>
                    <a:pt x="1461719" y="866242"/>
                  </a:cubicBezTo>
                  <a:cubicBezTo>
                    <a:pt x="1456775" y="871186"/>
                    <a:pt x="1450069" y="873964"/>
                    <a:pt x="1443077" y="873964"/>
                  </a:cubicBezTo>
                  <a:lnTo>
                    <a:pt x="26363" y="873964"/>
                  </a:lnTo>
                  <a:cubicBezTo>
                    <a:pt x="19371" y="873964"/>
                    <a:pt x="12666" y="871186"/>
                    <a:pt x="7722" y="866242"/>
                  </a:cubicBezTo>
                  <a:cubicBezTo>
                    <a:pt x="2778" y="861298"/>
                    <a:pt x="0" y="854592"/>
                    <a:pt x="0" y="847600"/>
                  </a:cubicBezTo>
                  <a:lnTo>
                    <a:pt x="0" y="26363"/>
                  </a:lnTo>
                  <a:cubicBezTo>
                    <a:pt x="0" y="19371"/>
                    <a:pt x="2778" y="12666"/>
                    <a:pt x="7722" y="7722"/>
                  </a:cubicBezTo>
                  <a:cubicBezTo>
                    <a:pt x="12666" y="2778"/>
                    <a:pt x="19371" y="0"/>
                    <a:pt x="2636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975" r="0" b="-40447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2330804">
            <a:off x="17179648" y="2129239"/>
            <a:ext cx="1565253" cy="1371553"/>
          </a:xfrm>
          <a:custGeom>
            <a:avLst/>
            <a:gdLst/>
            <a:ahLst/>
            <a:cxnLst/>
            <a:rect r="r" b="b" t="t" l="l"/>
            <a:pathLst>
              <a:path h="1371553" w="1565253">
                <a:moveTo>
                  <a:pt x="0" y="0"/>
                </a:moveTo>
                <a:lnTo>
                  <a:pt x="1565253" y="0"/>
                </a:lnTo>
                <a:lnTo>
                  <a:pt x="1565253" y="1371552"/>
                </a:lnTo>
                <a:lnTo>
                  <a:pt x="0" y="1371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688574" y="8984994"/>
            <a:ext cx="1717274" cy="1302006"/>
          </a:xfrm>
          <a:custGeom>
            <a:avLst/>
            <a:gdLst/>
            <a:ahLst/>
            <a:cxnLst/>
            <a:rect r="r" b="b" t="t" l="l"/>
            <a:pathLst>
              <a:path h="1302006" w="1717274">
                <a:moveTo>
                  <a:pt x="0" y="0"/>
                </a:moveTo>
                <a:lnTo>
                  <a:pt x="1717274" y="0"/>
                </a:lnTo>
                <a:lnTo>
                  <a:pt x="1717274" y="1302006"/>
                </a:lnTo>
                <a:lnTo>
                  <a:pt x="0" y="1302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7538" y="4197802"/>
            <a:ext cx="5280574" cy="44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Transaksi Tidak Terstruktur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Mahasiswa UI melakukan jual-beli lewat grup WhatsApp, Instagram story, dan LINE. Tidak ada sistem reservasi, sehingga barang sering dijual ke lebih dari satu pembeli sekaligus.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Status Barang Tidak Jelas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Tidak ada histori transaksi, tidak ada rating seller, dan status barang harus ditanyakan manual satu per satu.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825920" y="4197802"/>
            <a:ext cx="4215705" cy="44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Pencarian Tidak Efisien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Postingan barang terkubur di antara konten tidak relevan. Tidak bisa filter berdasarkan kategori, harga, atau fakultas.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Komunitas Terfragmentasi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Tidak ada platform yang menyatukan transaksi + interaksi sosial kampus dalam satu ekosistem.</a:t>
            </a: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46487" y="5082352"/>
            <a:ext cx="9540430" cy="253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66"/>
              </a:lnSpc>
              <a:spcBef>
                <a:spcPct val="0"/>
              </a:spcBef>
            </a:pPr>
            <a:r>
              <a:rPr lang="en-US" b="true" sz="14047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grpSp>
        <p:nvGrpSpPr>
          <p:cNvPr name="Group 4" id="4"/>
          <p:cNvGrpSpPr/>
          <p:nvPr/>
        </p:nvGrpSpPr>
        <p:grpSpPr>
          <a:xfrm rot="145278">
            <a:off x="14055208" y="5040785"/>
            <a:ext cx="2514173" cy="883233"/>
            <a:chOff x="0" y="0"/>
            <a:chExt cx="3352231" cy="11776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40489"/>
              <a:ext cx="3352231" cy="1096666"/>
              <a:chOff x="0" y="0"/>
              <a:chExt cx="410179" cy="1341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10178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410178">
                    <a:moveTo>
                      <a:pt x="0" y="0"/>
                    </a:moveTo>
                    <a:lnTo>
                      <a:pt x="410178" y="0"/>
                    </a:lnTo>
                    <a:lnTo>
                      <a:pt x="410178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410179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640465" y="-28575"/>
              <a:ext cx="2071302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29152" y="1028700"/>
            <a:ext cx="11158738" cy="3754778"/>
            <a:chOff x="0" y="0"/>
            <a:chExt cx="1998471" cy="672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8471" cy="672461"/>
            </a:xfrm>
            <a:custGeom>
              <a:avLst/>
              <a:gdLst/>
              <a:ahLst/>
              <a:cxnLst/>
              <a:rect r="r" b="b" t="t" l="l"/>
              <a:pathLst>
                <a:path h="672461" w="1998471">
                  <a:moveTo>
                    <a:pt x="15957" y="0"/>
                  </a:moveTo>
                  <a:lnTo>
                    <a:pt x="1982514" y="0"/>
                  </a:lnTo>
                  <a:cubicBezTo>
                    <a:pt x="1986746" y="0"/>
                    <a:pt x="1990805" y="1681"/>
                    <a:pt x="1993797" y="4674"/>
                  </a:cubicBezTo>
                  <a:cubicBezTo>
                    <a:pt x="1996790" y="7666"/>
                    <a:pt x="1998471" y="11725"/>
                    <a:pt x="1998471" y="15957"/>
                  </a:cubicBezTo>
                  <a:lnTo>
                    <a:pt x="1998471" y="656504"/>
                  </a:lnTo>
                  <a:cubicBezTo>
                    <a:pt x="1998471" y="660736"/>
                    <a:pt x="1996790" y="664795"/>
                    <a:pt x="1993797" y="667787"/>
                  </a:cubicBezTo>
                  <a:cubicBezTo>
                    <a:pt x="1990805" y="670780"/>
                    <a:pt x="1986746" y="672461"/>
                    <a:pt x="1982514" y="672461"/>
                  </a:cubicBezTo>
                  <a:lnTo>
                    <a:pt x="15957" y="672461"/>
                  </a:lnTo>
                  <a:cubicBezTo>
                    <a:pt x="11725" y="672461"/>
                    <a:pt x="7666" y="670780"/>
                    <a:pt x="4674" y="667787"/>
                  </a:cubicBezTo>
                  <a:cubicBezTo>
                    <a:pt x="1681" y="664795"/>
                    <a:pt x="0" y="660736"/>
                    <a:pt x="0" y="656504"/>
                  </a:cubicBezTo>
                  <a:lnTo>
                    <a:pt x="0" y="15957"/>
                  </a:lnTo>
                  <a:cubicBezTo>
                    <a:pt x="0" y="11725"/>
                    <a:pt x="1681" y="7666"/>
                    <a:pt x="4674" y="4674"/>
                  </a:cubicBezTo>
                  <a:cubicBezTo>
                    <a:pt x="7666" y="1681"/>
                    <a:pt x="11725" y="0"/>
                    <a:pt x="1595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21" r="0" b="-64317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247316" y="1028700"/>
            <a:ext cx="7816483" cy="3754778"/>
            <a:chOff x="0" y="0"/>
            <a:chExt cx="1399891" cy="672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9891" cy="672461"/>
            </a:xfrm>
            <a:custGeom>
              <a:avLst/>
              <a:gdLst/>
              <a:ahLst/>
              <a:cxnLst/>
              <a:rect r="r" b="b" t="t" l="l"/>
              <a:pathLst>
                <a:path h="672461" w="1399891">
                  <a:moveTo>
                    <a:pt x="22781" y="0"/>
                  </a:moveTo>
                  <a:lnTo>
                    <a:pt x="1377110" y="0"/>
                  </a:lnTo>
                  <a:cubicBezTo>
                    <a:pt x="1389692" y="0"/>
                    <a:pt x="1399891" y="10199"/>
                    <a:pt x="1399891" y="22781"/>
                  </a:cubicBezTo>
                  <a:lnTo>
                    <a:pt x="1399891" y="649680"/>
                  </a:lnTo>
                  <a:cubicBezTo>
                    <a:pt x="1399891" y="662262"/>
                    <a:pt x="1389692" y="672461"/>
                    <a:pt x="1377110" y="672461"/>
                  </a:cubicBezTo>
                  <a:lnTo>
                    <a:pt x="22781" y="672461"/>
                  </a:lnTo>
                  <a:cubicBezTo>
                    <a:pt x="10199" y="672461"/>
                    <a:pt x="0" y="662262"/>
                    <a:pt x="0" y="649680"/>
                  </a:cubicBezTo>
                  <a:lnTo>
                    <a:pt x="0" y="22781"/>
                  </a:lnTo>
                  <a:cubicBezTo>
                    <a:pt x="0" y="10199"/>
                    <a:pt x="10199" y="0"/>
                    <a:pt x="2278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356" r="0" b="-16889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28700" y="7682865"/>
            <a:ext cx="6511240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Platform Marketplace Terintegrasi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Lapak UI menyatukan marketplace barang &amp; jasa, sistem reservasi COD terstruktur, dan social feed komunitas dalam satu platform. Dirancang khusus untuk ekosistem kampus Universitas Indonesia.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3232879">
            <a:off x="9636865" y="542573"/>
            <a:ext cx="2185443" cy="1656963"/>
          </a:xfrm>
          <a:custGeom>
            <a:avLst/>
            <a:gdLst/>
            <a:ahLst/>
            <a:cxnLst/>
            <a:rect r="r" b="b" t="t" l="l"/>
            <a:pathLst>
              <a:path h="1656963" w="2185443">
                <a:moveTo>
                  <a:pt x="0" y="0"/>
                </a:moveTo>
                <a:lnTo>
                  <a:pt x="2185442" y="0"/>
                </a:lnTo>
                <a:lnTo>
                  <a:pt x="2185442" y="1656963"/>
                </a:lnTo>
                <a:lnTo>
                  <a:pt x="0" y="1656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330804">
            <a:off x="-280108" y="5274496"/>
            <a:ext cx="2265701" cy="1985321"/>
          </a:xfrm>
          <a:custGeom>
            <a:avLst/>
            <a:gdLst/>
            <a:ahLst/>
            <a:cxnLst/>
            <a:rect r="r" b="b" t="t" l="l"/>
            <a:pathLst>
              <a:path h="1985321" w="2265701">
                <a:moveTo>
                  <a:pt x="0" y="0"/>
                </a:moveTo>
                <a:lnTo>
                  <a:pt x="2265701" y="0"/>
                </a:lnTo>
                <a:lnTo>
                  <a:pt x="2265701" y="1985321"/>
                </a:lnTo>
                <a:lnTo>
                  <a:pt x="0" y="19853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83593" y="7682865"/>
            <a:ext cx="8303324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Arsitektur Modern &amp; Skalabel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Dibangun dengan Next.js 16 (App Router), Prisma ORM v7, PostgreSQL (13 entitas), Redis untuk timer reservasi, dan TailwindCSS v4 dengan desain Apple-grade minimalist.</a:t>
            </a: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39746">
            <a:off x="800627" y="163587"/>
            <a:ext cx="4726004" cy="883233"/>
            <a:chOff x="0" y="0"/>
            <a:chExt cx="6301338" cy="117764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40489"/>
              <a:ext cx="6301338" cy="1096666"/>
              <a:chOff x="0" y="0"/>
              <a:chExt cx="771031" cy="13418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71031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771031">
                    <a:moveTo>
                      <a:pt x="0" y="0"/>
                    </a:moveTo>
                    <a:lnTo>
                      <a:pt x="771031" y="0"/>
                    </a:lnTo>
                    <a:lnTo>
                      <a:pt x="771031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76200"/>
                <a:ext cx="771031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4977" y="-28575"/>
              <a:ext cx="5291384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TARGET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4773780">
            <a:off x="-145657" y="8388935"/>
            <a:ext cx="2348715" cy="2058062"/>
          </a:xfrm>
          <a:custGeom>
            <a:avLst/>
            <a:gdLst/>
            <a:ahLst/>
            <a:cxnLst/>
            <a:rect r="r" b="b" t="t" l="l"/>
            <a:pathLst>
              <a:path h="2058062" w="2348715">
                <a:moveTo>
                  <a:pt x="0" y="0"/>
                </a:moveTo>
                <a:lnTo>
                  <a:pt x="2348714" y="0"/>
                </a:lnTo>
                <a:lnTo>
                  <a:pt x="2348714" y="2058061"/>
                </a:lnTo>
                <a:lnTo>
                  <a:pt x="0" y="20580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100000">
            <a:off x="14655574" y="-1367612"/>
            <a:ext cx="4536987" cy="3439861"/>
          </a:xfrm>
          <a:custGeom>
            <a:avLst/>
            <a:gdLst/>
            <a:ahLst/>
            <a:cxnLst/>
            <a:rect r="r" b="b" t="t" l="l"/>
            <a:pathLst>
              <a:path h="3439861" w="4536987">
                <a:moveTo>
                  <a:pt x="0" y="0"/>
                </a:moveTo>
                <a:lnTo>
                  <a:pt x="4536987" y="0"/>
                </a:lnTo>
                <a:lnTo>
                  <a:pt x="4536987" y="3439861"/>
                </a:lnTo>
                <a:lnTo>
                  <a:pt x="0" y="3439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469914">
            <a:off x="15588654" y="8397159"/>
            <a:ext cx="2939583" cy="2228739"/>
          </a:xfrm>
          <a:custGeom>
            <a:avLst/>
            <a:gdLst/>
            <a:ahLst/>
            <a:cxnLst/>
            <a:rect r="r" b="b" t="t" l="l"/>
            <a:pathLst>
              <a:path h="2228739" w="2939583">
                <a:moveTo>
                  <a:pt x="0" y="0"/>
                </a:moveTo>
                <a:lnTo>
                  <a:pt x="2939584" y="0"/>
                </a:lnTo>
                <a:lnTo>
                  <a:pt x="2939584" y="2228738"/>
                </a:lnTo>
                <a:lnTo>
                  <a:pt x="0" y="222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96627" y="2573357"/>
            <a:ext cx="1956818" cy="1956818"/>
            <a:chOff x="0" y="0"/>
            <a:chExt cx="13716000" cy="137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-16666" t="0" r="-16666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45057" y="1038957"/>
            <a:ext cx="8113654" cy="21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5999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Alu</a:t>
            </a:r>
            <a:r>
              <a:rPr lang="en-US" sz="5999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R RESERVASI COD</a:t>
            </a:r>
          </a:p>
          <a:p>
            <a:pPr algn="l">
              <a:lnSpc>
                <a:spcPts val="8399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2945066" y="2573357"/>
            <a:ext cx="1956818" cy="1956818"/>
            <a:chOff x="0" y="0"/>
            <a:chExt cx="13716000" cy="137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94397" y="2573357"/>
            <a:ext cx="1956818" cy="1956818"/>
            <a:chOff x="0" y="0"/>
            <a:chExt cx="1371600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65591" y="2573357"/>
            <a:ext cx="1956818" cy="1956818"/>
            <a:chOff x="0" y="0"/>
            <a:chExt cx="13716000" cy="1371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35501" y="2573357"/>
            <a:ext cx="1956818" cy="1956818"/>
            <a:chOff x="0" y="0"/>
            <a:chExt cx="13716000" cy="1371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92395" y="2573357"/>
            <a:ext cx="1956818" cy="1956818"/>
            <a:chOff x="0" y="0"/>
            <a:chExt cx="13716000" cy="1371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945658" y="2573357"/>
            <a:ext cx="1956818" cy="1956818"/>
            <a:chOff x="0" y="0"/>
            <a:chExt cx="13716000" cy="1371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6119869" y="4908540"/>
            <a:ext cx="1877153" cy="101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3"/>
              </a:lnSpc>
            </a:pPr>
            <a:r>
              <a:rPr lang="en-US" sz="2424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COMPLETED</a:t>
            </a:r>
          </a:p>
          <a:p>
            <a:pPr algn="just">
              <a:lnSpc>
                <a:spcPts val="4653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472059" y="4899095"/>
            <a:ext cx="1877153" cy="86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24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DOUBLE COMPLETED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15166" y="4870759"/>
            <a:ext cx="1877153" cy="86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24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COD DILAKUKAN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85741" y="4880205"/>
            <a:ext cx="2487389" cy="791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224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SELLER TERIMA/TOLAK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28630" y="4870759"/>
            <a:ext cx="1877153" cy="86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24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NOTIFIKASI KE SELLER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0821" y="4861314"/>
            <a:ext cx="1877153" cy="4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3"/>
              </a:lnSpc>
            </a:pPr>
            <a:r>
              <a:rPr lang="en-US" sz="2424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REDIS TIMER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22507" y="4861314"/>
            <a:ext cx="1305058" cy="4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3"/>
              </a:lnSpc>
            </a:pPr>
            <a:r>
              <a:rPr lang="en-US" sz="2424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BUYYER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6627" y="6083111"/>
            <a:ext cx="17700396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Kenapa Redis?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PostgreSQL cron job tidak cukup akurat untuk timer reservasi yang butuh presisi tinggi. Redis menyimpan expiry key (TTL) per reservasi yang auto-trigger cancel tanpa polling berulang ke database serta mengurangi beban query dan memastikan akurasi timer hingga detik.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18870" y="1233581"/>
            <a:ext cx="9540430" cy="25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6"/>
              </a:lnSpc>
              <a:spcBef>
                <a:spcPct val="0"/>
              </a:spcBef>
            </a:pPr>
            <a:r>
              <a:rPr lang="en-US" b="true" sz="14047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grpSp>
        <p:nvGrpSpPr>
          <p:cNvPr name="Group 4" id="4"/>
          <p:cNvGrpSpPr/>
          <p:nvPr/>
        </p:nvGrpSpPr>
        <p:grpSpPr>
          <a:xfrm rot="212941">
            <a:off x="12670996" y="1174129"/>
            <a:ext cx="4726004" cy="883233"/>
            <a:chOff x="0" y="0"/>
            <a:chExt cx="6301338" cy="11776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40489"/>
              <a:ext cx="6301338" cy="1096666"/>
              <a:chOff x="0" y="0"/>
              <a:chExt cx="771031" cy="1341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71031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771031">
                    <a:moveTo>
                      <a:pt x="0" y="0"/>
                    </a:moveTo>
                    <a:lnTo>
                      <a:pt x="771031" y="0"/>
                    </a:lnTo>
                    <a:lnTo>
                      <a:pt x="771031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771031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4977" y="-28575"/>
              <a:ext cx="5291384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SERVICE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5318" y="-154780"/>
            <a:ext cx="4027557" cy="5298280"/>
            <a:chOff x="0" y="0"/>
            <a:chExt cx="842896" cy="11088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2896" cy="1108835"/>
            </a:xfrm>
            <a:custGeom>
              <a:avLst/>
              <a:gdLst/>
              <a:ahLst/>
              <a:cxnLst/>
              <a:rect r="r" b="b" t="t" l="l"/>
              <a:pathLst>
                <a:path h="1108835" w="842896">
                  <a:moveTo>
                    <a:pt x="44211" y="0"/>
                  </a:moveTo>
                  <a:lnTo>
                    <a:pt x="798684" y="0"/>
                  </a:lnTo>
                  <a:cubicBezTo>
                    <a:pt x="810410" y="0"/>
                    <a:pt x="821655" y="4658"/>
                    <a:pt x="829946" y="12949"/>
                  </a:cubicBezTo>
                  <a:cubicBezTo>
                    <a:pt x="838238" y="21240"/>
                    <a:pt x="842896" y="32486"/>
                    <a:pt x="842896" y="44211"/>
                  </a:cubicBezTo>
                  <a:lnTo>
                    <a:pt x="842896" y="1064624"/>
                  </a:lnTo>
                  <a:cubicBezTo>
                    <a:pt x="842896" y="1089041"/>
                    <a:pt x="823102" y="1108835"/>
                    <a:pt x="798684" y="1108835"/>
                  </a:cubicBezTo>
                  <a:lnTo>
                    <a:pt x="44211" y="1108835"/>
                  </a:lnTo>
                  <a:cubicBezTo>
                    <a:pt x="32486" y="1108835"/>
                    <a:pt x="21240" y="1104177"/>
                    <a:pt x="12949" y="1095886"/>
                  </a:cubicBezTo>
                  <a:cubicBezTo>
                    <a:pt x="4658" y="1087595"/>
                    <a:pt x="0" y="1076349"/>
                    <a:pt x="0" y="1064624"/>
                  </a:cubicBezTo>
                  <a:lnTo>
                    <a:pt x="0" y="44211"/>
                  </a:lnTo>
                  <a:cubicBezTo>
                    <a:pt x="0" y="32486"/>
                    <a:pt x="4658" y="21240"/>
                    <a:pt x="12949" y="12949"/>
                  </a:cubicBezTo>
                  <a:cubicBezTo>
                    <a:pt x="21240" y="4658"/>
                    <a:pt x="32486" y="0"/>
                    <a:pt x="44211" y="0"/>
                  </a:cubicBezTo>
                  <a:close/>
                </a:path>
              </a:pathLst>
            </a:custGeom>
            <a:blipFill>
              <a:blip r:embed="rId3"/>
              <a:stretch>
                <a:fillRect l="-41751" t="-25390" r="-26997" b="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896428" y="4249707"/>
            <a:ext cx="7362872" cy="6425775"/>
            <a:chOff x="0" y="0"/>
            <a:chExt cx="1416502" cy="12362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6502" cy="1236219"/>
            </a:xfrm>
            <a:custGeom>
              <a:avLst/>
              <a:gdLst/>
              <a:ahLst/>
              <a:cxnLst/>
              <a:rect r="r" b="b" t="t" l="l"/>
              <a:pathLst>
                <a:path h="1236219" w="1416502">
                  <a:moveTo>
                    <a:pt x="24184" y="0"/>
                  </a:moveTo>
                  <a:lnTo>
                    <a:pt x="1392318" y="0"/>
                  </a:lnTo>
                  <a:cubicBezTo>
                    <a:pt x="1405675" y="0"/>
                    <a:pt x="1416502" y="10828"/>
                    <a:pt x="1416502" y="24184"/>
                  </a:cubicBezTo>
                  <a:lnTo>
                    <a:pt x="1416502" y="1212035"/>
                  </a:lnTo>
                  <a:cubicBezTo>
                    <a:pt x="1416502" y="1225392"/>
                    <a:pt x="1405675" y="1236219"/>
                    <a:pt x="1392318" y="1236219"/>
                  </a:cubicBezTo>
                  <a:lnTo>
                    <a:pt x="24184" y="1236219"/>
                  </a:lnTo>
                  <a:cubicBezTo>
                    <a:pt x="10828" y="1236219"/>
                    <a:pt x="0" y="1225392"/>
                    <a:pt x="0" y="1212035"/>
                  </a:cubicBezTo>
                  <a:lnTo>
                    <a:pt x="0" y="24184"/>
                  </a:lnTo>
                  <a:cubicBezTo>
                    <a:pt x="0" y="10828"/>
                    <a:pt x="10828" y="0"/>
                    <a:pt x="2418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48860" b="-1684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4715193">
            <a:off x="7654482" y="-557027"/>
            <a:ext cx="2185443" cy="1656963"/>
          </a:xfrm>
          <a:custGeom>
            <a:avLst/>
            <a:gdLst/>
            <a:ahLst/>
            <a:cxnLst/>
            <a:rect r="r" b="b" t="t" l="l"/>
            <a:pathLst>
              <a:path h="1656963" w="2185443">
                <a:moveTo>
                  <a:pt x="0" y="0"/>
                </a:moveTo>
                <a:lnTo>
                  <a:pt x="2185443" y="0"/>
                </a:lnTo>
                <a:lnTo>
                  <a:pt x="2185443" y="1656963"/>
                </a:lnTo>
                <a:lnTo>
                  <a:pt x="0" y="1656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5413199"/>
            <a:ext cx="7503048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Marketplace Barang &amp; Jasa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Listing produk dengan kategori, kondisi, gambar, filter fakultas, pencarian, sorting, dan badge status real-time (Available / Reserved / On Progress).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802068"/>
            <a:ext cx="7503048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Reservasi COD + Notifikasi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Timer Redis otomatis (2-72 jam), double confirmation transaksi, in-app + Telegram + Email + Google Calendar, realtime chat Supabase.</a:t>
            </a: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24959" y="5101015"/>
            <a:ext cx="4679803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Mahasiswa yang ingin menjual barang bekas (laptop, buku, peralatan kuliah) dan menawarkan jasa (les, desain, fotografi, coding). Sering frustrasi dengan ketidakjelasan sistem jual-beli di grup WA.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24959" y="4658363"/>
            <a:ext cx="409865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MAHASISWA SELLER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45245" y="4658363"/>
            <a:ext cx="402693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MAHASISWA BUYER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45245" y="5101015"/>
            <a:ext cx="4278223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Mahasiswa baru atau pengguna yang mencari perlengkapan kuliah bekas dengan harga terjangkau. Butuh platform yang terstruktur, terpercaya, dan campus-scoped.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765531" y="4658363"/>
            <a:ext cx="393690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ADMIN PLATFORM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5531" y="5101015"/>
            <a:ext cx="4158536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Pengelola yang memantau produk bermasalah, user mencurigakan, dan aktivitas transaksi. Akses dashboard admin dengan statistik platform lengkap.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4833" y="1233581"/>
            <a:ext cx="8113654" cy="253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6"/>
              </a:lnSpc>
              <a:spcBef>
                <a:spcPct val="0"/>
              </a:spcBef>
            </a:pPr>
            <a:r>
              <a:rPr lang="en-US" sz="14047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Ma</a:t>
            </a:r>
            <a:r>
              <a:rPr lang="en-US" b="true" sz="14047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RKET</a:t>
            </a:r>
          </a:p>
        </p:txBody>
      </p:sp>
      <p:grpSp>
        <p:nvGrpSpPr>
          <p:cNvPr name="Group 10" id="10"/>
          <p:cNvGrpSpPr/>
          <p:nvPr/>
        </p:nvGrpSpPr>
        <p:grpSpPr>
          <a:xfrm rot="-239746">
            <a:off x="1053729" y="1192287"/>
            <a:ext cx="4726004" cy="883233"/>
            <a:chOff x="0" y="0"/>
            <a:chExt cx="6301338" cy="117764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40489"/>
              <a:ext cx="6301338" cy="1096666"/>
              <a:chOff x="0" y="0"/>
              <a:chExt cx="771031" cy="13418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71031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771031">
                    <a:moveTo>
                      <a:pt x="0" y="0"/>
                    </a:moveTo>
                    <a:lnTo>
                      <a:pt x="771031" y="0"/>
                    </a:lnTo>
                    <a:lnTo>
                      <a:pt x="771031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76200"/>
                <a:ext cx="771031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04977" y="-28575"/>
              <a:ext cx="5291384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TARGET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4773780">
            <a:off x="2824509" y="8465135"/>
            <a:ext cx="2348715" cy="2058062"/>
          </a:xfrm>
          <a:custGeom>
            <a:avLst/>
            <a:gdLst/>
            <a:ahLst/>
            <a:cxnLst/>
            <a:rect r="r" b="b" t="t" l="l"/>
            <a:pathLst>
              <a:path h="2058062" w="2348715">
                <a:moveTo>
                  <a:pt x="0" y="0"/>
                </a:moveTo>
                <a:lnTo>
                  <a:pt x="2348715" y="0"/>
                </a:lnTo>
                <a:lnTo>
                  <a:pt x="2348715" y="2058061"/>
                </a:lnTo>
                <a:lnTo>
                  <a:pt x="0" y="20580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8100000">
            <a:off x="12525222" y="-133554"/>
            <a:ext cx="4536987" cy="3439861"/>
          </a:xfrm>
          <a:custGeom>
            <a:avLst/>
            <a:gdLst/>
            <a:ahLst/>
            <a:cxnLst/>
            <a:rect r="r" b="b" t="t" l="l"/>
            <a:pathLst>
              <a:path h="3439861" w="4536987">
                <a:moveTo>
                  <a:pt x="0" y="0"/>
                </a:moveTo>
                <a:lnTo>
                  <a:pt x="4536987" y="0"/>
                </a:lnTo>
                <a:lnTo>
                  <a:pt x="4536987" y="3439861"/>
                </a:lnTo>
                <a:lnTo>
                  <a:pt x="0" y="34398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469914">
            <a:off x="9514203" y="8062599"/>
            <a:ext cx="2939583" cy="2228739"/>
          </a:xfrm>
          <a:custGeom>
            <a:avLst/>
            <a:gdLst/>
            <a:ahLst/>
            <a:cxnLst/>
            <a:rect r="r" b="b" t="t" l="l"/>
            <a:pathLst>
              <a:path h="2228739" w="2939583">
                <a:moveTo>
                  <a:pt x="0" y="0"/>
                </a:moveTo>
                <a:lnTo>
                  <a:pt x="2939583" y="0"/>
                </a:lnTo>
                <a:lnTo>
                  <a:pt x="2939583" y="2228738"/>
                </a:lnTo>
                <a:lnTo>
                  <a:pt x="0" y="22287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11079" y="1475079"/>
            <a:ext cx="13426623" cy="190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5"/>
              </a:lnSpc>
              <a:spcBef>
                <a:spcPct val="0"/>
              </a:spcBef>
            </a:pPr>
            <a:r>
              <a:rPr lang="en-US" sz="10532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STACK &amp; DATABASE</a:t>
            </a:r>
          </a:p>
        </p:txBody>
      </p:sp>
      <p:grpSp>
        <p:nvGrpSpPr>
          <p:cNvPr name="Group 4" id="4"/>
          <p:cNvGrpSpPr/>
          <p:nvPr/>
        </p:nvGrpSpPr>
        <p:grpSpPr>
          <a:xfrm rot="-239746">
            <a:off x="6414914" y="865132"/>
            <a:ext cx="4992040" cy="932952"/>
            <a:chOff x="0" y="0"/>
            <a:chExt cx="6656053" cy="124393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42769"/>
              <a:ext cx="6656053" cy="1158399"/>
              <a:chOff x="0" y="0"/>
              <a:chExt cx="771031" cy="1341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71031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771031">
                    <a:moveTo>
                      <a:pt x="0" y="0"/>
                    </a:moveTo>
                    <a:lnTo>
                      <a:pt x="771031" y="0"/>
                    </a:lnTo>
                    <a:lnTo>
                      <a:pt x="771031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771031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71491" y="-38100"/>
              <a:ext cx="5814743" cy="1282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82"/>
                </a:lnSpc>
              </a:pPr>
              <a:r>
                <a:rPr lang="en-US" b="true" sz="6138" spc="-122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TECHNICAL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02476" y="3657244"/>
            <a:ext cx="9000407" cy="3754778"/>
            <a:chOff x="0" y="0"/>
            <a:chExt cx="1611926" cy="672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11926" cy="672461"/>
            </a:xfrm>
            <a:custGeom>
              <a:avLst/>
              <a:gdLst/>
              <a:ahLst/>
              <a:cxnLst/>
              <a:rect r="r" b="b" t="t" l="l"/>
              <a:pathLst>
                <a:path h="672461" w="1611926">
                  <a:moveTo>
                    <a:pt x="19784" y="0"/>
                  </a:moveTo>
                  <a:lnTo>
                    <a:pt x="1592142" y="0"/>
                  </a:lnTo>
                  <a:cubicBezTo>
                    <a:pt x="1597389" y="0"/>
                    <a:pt x="1602421" y="2084"/>
                    <a:pt x="1606131" y="5795"/>
                  </a:cubicBezTo>
                  <a:cubicBezTo>
                    <a:pt x="1609841" y="9505"/>
                    <a:pt x="1611926" y="14537"/>
                    <a:pt x="1611926" y="19784"/>
                  </a:cubicBezTo>
                  <a:lnTo>
                    <a:pt x="1611926" y="652677"/>
                  </a:lnTo>
                  <a:cubicBezTo>
                    <a:pt x="1611926" y="657924"/>
                    <a:pt x="1609841" y="662956"/>
                    <a:pt x="1606131" y="666666"/>
                  </a:cubicBezTo>
                  <a:cubicBezTo>
                    <a:pt x="1602421" y="670377"/>
                    <a:pt x="1597389" y="672461"/>
                    <a:pt x="1592142" y="672461"/>
                  </a:cubicBezTo>
                  <a:lnTo>
                    <a:pt x="19784" y="672461"/>
                  </a:lnTo>
                  <a:cubicBezTo>
                    <a:pt x="8858" y="672461"/>
                    <a:pt x="0" y="663603"/>
                    <a:pt x="0" y="652677"/>
                  </a:cubicBezTo>
                  <a:lnTo>
                    <a:pt x="0" y="19784"/>
                  </a:lnTo>
                  <a:cubicBezTo>
                    <a:pt x="0" y="14537"/>
                    <a:pt x="2084" y="9505"/>
                    <a:pt x="5795" y="5795"/>
                  </a:cubicBezTo>
                  <a:cubicBezTo>
                    <a:pt x="9505" y="2084"/>
                    <a:pt x="14537" y="0"/>
                    <a:pt x="1978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473" r="0" b="-170694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0" y="3657244"/>
            <a:ext cx="9566085" cy="3754778"/>
            <a:chOff x="0" y="0"/>
            <a:chExt cx="1713235" cy="672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13235" cy="672461"/>
            </a:xfrm>
            <a:custGeom>
              <a:avLst/>
              <a:gdLst/>
              <a:ahLst/>
              <a:cxnLst/>
              <a:rect r="r" b="b" t="t" l="l"/>
              <a:pathLst>
                <a:path h="672461" w="1713235">
                  <a:moveTo>
                    <a:pt x="18614" y="0"/>
                  </a:moveTo>
                  <a:lnTo>
                    <a:pt x="1694621" y="0"/>
                  </a:lnTo>
                  <a:cubicBezTo>
                    <a:pt x="1704902" y="0"/>
                    <a:pt x="1713235" y="8334"/>
                    <a:pt x="1713235" y="18614"/>
                  </a:cubicBezTo>
                  <a:lnTo>
                    <a:pt x="1713235" y="653847"/>
                  </a:lnTo>
                  <a:cubicBezTo>
                    <a:pt x="1713235" y="664127"/>
                    <a:pt x="1704902" y="672461"/>
                    <a:pt x="1694621" y="672461"/>
                  </a:cubicBezTo>
                  <a:lnTo>
                    <a:pt x="18614" y="672461"/>
                  </a:lnTo>
                  <a:cubicBezTo>
                    <a:pt x="8334" y="672461"/>
                    <a:pt x="0" y="664127"/>
                    <a:pt x="0" y="653847"/>
                  </a:cubicBezTo>
                  <a:lnTo>
                    <a:pt x="0" y="18614"/>
                  </a:lnTo>
                  <a:cubicBezTo>
                    <a:pt x="0" y="8334"/>
                    <a:pt x="8334" y="0"/>
                    <a:pt x="18614" y="0"/>
                  </a:cubicBezTo>
                  <a:close/>
                </a:path>
              </a:pathLst>
            </a:custGeom>
            <a:blipFill>
              <a:blip r:embed="rId4"/>
              <a:stretch>
                <a:fillRect l="-7256" t="-29542" r="-4647" b="-26548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4773780">
            <a:off x="16921520" y="2733155"/>
            <a:ext cx="1456343" cy="1276120"/>
          </a:xfrm>
          <a:custGeom>
            <a:avLst/>
            <a:gdLst/>
            <a:ahLst/>
            <a:cxnLst/>
            <a:rect r="r" b="b" t="t" l="l"/>
            <a:pathLst>
              <a:path h="1276120" w="1456343">
                <a:moveTo>
                  <a:pt x="0" y="0"/>
                </a:moveTo>
                <a:lnTo>
                  <a:pt x="1456343" y="0"/>
                </a:lnTo>
                <a:lnTo>
                  <a:pt x="1456343" y="1276120"/>
                </a:lnTo>
                <a:lnTo>
                  <a:pt x="0" y="1276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715193">
            <a:off x="776757" y="-557027"/>
            <a:ext cx="2185443" cy="1656963"/>
          </a:xfrm>
          <a:custGeom>
            <a:avLst/>
            <a:gdLst/>
            <a:ahLst/>
            <a:cxnLst/>
            <a:rect r="r" b="b" t="t" l="l"/>
            <a:pathLst>
              <a:path h="1656963" w="2185443">
                <a:moveTo>
                  <a:pt x="0" y="0"/>
                </a:moveTo>
                <a:lnTo>
                  <a:pt x="2185443" y="0"/>
                </a:lnTo>
                <a:lnTo>
                  <a:pt x="2185443" y="1656963"/>
                </a:lnTo>
                <a:lnTo>
                  <a:pt x="0" y="16569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24391" y="7768590"/>
            <a:ext cx="8495644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Security &amp; Performance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bcrypt salt-12 · JWT cookie httpOnly (jose) · SameSite Strict · Middleware edge protection · Redis TTL reservation timer · Prisma singleton · Protected &amp; Admin routes.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15693" y="7682865"/>
            <a:ext cx="8182239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Architecture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13 entitas Prisma yang dinormalisasi dengan baik: User, Product, ProductImage, Reservation, Transaction, Review, Post, Comment, Like, Chat, Message, Wishlist, Notification. Relasi RI lengkap dengan PostgreSQL.</a:t>
            </a: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9082" y="1156947"/>
            <a:ext cx="7621397" cy="184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65"/>
              </a:lnSpc>
              <a:spcBef>
                <a:spcPct val="0"/>
              </a:spcBef>
            </a:pPr>
            <a:r>
              <a:rPr lang="en-US" sz="10189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FITUR </a:t>
            </a:r>
          </a:p>
        </p:txBody>
      </p:sp>
      <p:grpSp>
        <p:nvGrpSpPr>
          <p:cNvPr name="Group 4" id="4"/>
          <p:cNvGrpSpPr/>
          <p:nvPr/>
        </p:nvGrpSpPr>
        <p:grpSpPr>
          <a:xfrm rot="-239746">
            <a:off x="1053729" y="587083"/>
            <a:ext cx="4726004" cy="883233"/>
            <a:chOff x="0" y="0"/>
            <a:chExt cx="6301338" cy="11776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40489"/>
              <a:ext cx="6301338" cy="1096666"/>
              <a:chOff x="0" y="0"/>
              <a:chExt cx="771031" cy="1341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71031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771031">
                    <a:moveTo>
                      <a:pt x="0" y="0"/>
                    </a:moveTo>
                    <a:lnTo>
                      <a:pt x="771031" y="0"/>
                    </a:lnTo>
                    <a:lnTo>
                      <a:pt x="771031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771031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4977" y="-28575"/>
              <a:ext cx="5291384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CURRENT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91446" y="3003947"/>
            <a:ext cx="4345680" cy="3754778"/>
            <a:chOff x="0" y="0"/>
            <a:chExt cx="778288" cy="672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8288" cy="672461"/>
            </a:xfrm>
            <a:custGeom>
              <a:avLst/>
              <a:gdLst/>
              <a:ahLst/>
              <a:cxnLst/>
              <a:rect r="r" b="b" t="t" l="l"/>
              <a:pathLst>
                <a:path h="672461" w="778288">
                  <a:moveTo>
                    <a:pt x="40975" y="0"/>
                  </a:moveTo>
                  <a:lnTo>
                    <a:pt x="737313" y="0"/>
                  </a:lnTo>
                  <a:cubicBezTo>
                    <a:pt x="759943" y="0"/>
                    <a:pt x="778288" y="18345"/>
                    <a:pt x="778288" y="40975"/>
                  </a:cubicBezTo>
                  <a:lnTo>
                    <a:pt x="778288" y="631486"/>
                  </a:lnTo>
                  <a:cubicBezTo>
                    <a:pt x="778288" y="642353"/>
                    <a:pt x="773971" y="652775"/>
                    <a:pt x="766287" y="660460"/>
                  </a:cubicBezTo>
                  <a:cubicBezTo>
                    <a:pt x="758603" y="668144"/>
                    <a:pt x="748181" y="672461"/>
                    <a:pt x="737313" y="672461"/>
                  </a:cubicBezTo>
                  <a:lnTo>
                    <a:pt x="40975" y="672461"/>
                  </a:lnTo>
                  <a:cubicBezTo>
                    <a:pt x="18345" y="672461"/>
                    <a:pt x="0" y="654116"/>
                    <a:pt x="0" y="631486"/>
                  </a:cubicBezTo>
                  <a:lnTo>
                    <a:pt x="0" y="40975"/>
                  </a:lnTo>
                  <a:cubicBezTo>
                    <a:pt x="0" y="18345"/>
                    <a:pt x="18345" y="0"/>
                    <a:pt x="40975" y="0"/>
                  </a:cubicBezTo>
                  <a:close/>
                </a:path>
              </a:pathLst>
            </a:custGeom>
            <a:blipFill>
              <a:blip r:embed="rId3"/>
              <a:stretch>
                <a:fillRect l="-974" t="0" r="-974" b="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349896" y="3003947"/>
            <a:ext cx="4345680" cy="3754778"/>
            <a:chOff x="0" y="0"/>
            <a:chExt cx="778288" cy="672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8288" cy="672461"/>
            </a:xfrm>
            <a:custGeom>
              <a:avLst/>
              <a:gdLst/>
              <a:ahLst/>
              <a:cxnLst/>
              <a:rect r="r" b="b" t="t" l="l"/>
              <a:pathLst>
                <a:path h="672461" w="778288">
                  <a:moveTo>
                    <a:pt x="40975" y="0"/>
                  </a:moveTo>
                  <a:lnTo>
                    <a:pt x="737313" y="0"/>
                  </a:lnTo>
                  <a:cubicBezTo>
                    <a:pt x="759943" y="0"/>
                    <a:pt x="778288" y="18345"/>
                    <a:pt x="778288" y="40975"/>
                  </a:cubicBezTo>
                  <a:lnTo>
                    <a:pt x="778288" y="631486"/>
                  </a:lnTo>
                  <a:cubicBezTo>
                    <a:pt x="778288" y="642353"/>
                    <a:pt x="773971" y="652775"/>
                    <a:pt x="766287" y="660460"/>
                  </a:cubicBezTo>
                  <a:cubicBezTo>
                    <a:pt x="758603" y="668144"/>
                    <a:pt x="748181" y="672461"/>
                    <a:pt x="737313" y="672461"/>
                  </a:cubicBezTo>
                  <a:lnTo>
                    <a:pt x="40975" y="672461"/>
                  </a:lnTo>
                  <a:cubicBezTo>
                    <a:pt x="18345" y="672461"/>
                    <a:pt x="0" y="654116"/>
                    <a:pt x="0" y="631486"/>
                  </a:cubicBezTo>
                  <a:lnTo>
                    <a:pt x="0" y="40975"/>
                  </a:lnTo>
                  <a:cubicBezTo>
                    <a:pt x="0" y="18345"/>
                    <a:pt x="18345" y="0"/>
                    <a:pt x="40975" y="0"/>
                  </a:cubicBezTo>
                  <a:close/>
                </a:path>
              </a:pathLst>
            </a:custGeom>
            <a:blipFill>
              <a:blip r:embed="rId4"/>
              <a:stretch>
                <a:fillRect l="-46755" t="0" r="0" b="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59082" y="3003947"/>
            <a:ext cx="4345680" cy="3754778"/>
            <a:chOff x="0" y="0"/>
            <a:chExt cx="778288" cy="6724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8288" cy="672461"/>
            </a:xfrm>
            <a:custGeom>
              <a:avLst/>
              <a:gdLst/>
              <a:ahLst/>
              <a:cxnLst/>
              <a:rect r="r" b="b" t="t" l="l"/>
              <a:pathLst>
                <a:path h="672461" w="778288">
                  <a:moveTo>
                    <a:pt x="40975" y="0"/>
                  </a:moveTo>
                  <a:lnTo>
                    <a:pt x="737313" y="0"/>
                  </a:lnTo>
                  <a:cubicBezTo>
                    <a:pt x="759943" y="0"/>
                    <a:pt x="778288" y="18345"/>
                    <a:pt x="778288" y="40975"/>
                  </a:cubicBezTo>
                  <a:lnTo>
                    <a:pt x="778288" y="631486"/>
                  </a:lnTo>
                  <a:cubicBezTo>
                    <a:pt x="778288" y="642353"/>
                    <a:pt x="773971" y="652775"/>
                    <a:pt x="766287" y="660460"/>
                  </a:cubicBezTo>
                  <a:cubicBezTo>
                    <a:pt x="758603" y="668144"/>
                    <a:pt x="748181" y="672461"/>
                    <a:pt x="737313" y="672461"/>
                  </a:cubicBezTo>
                  <a:lnTo>
                    <a:pt x="40975" y="672461"/>
                  </a:lnTo>
                  <a:cubicBezTo>
                    <a:pt x="18345" y="672461"/>
                    <a:pt x="0" y="654116"/>
                    <a:pt x="0" y="631486"/>
                  </a:cubicBezTo>
                  <a:lnTo>
                    <a:pt x="0" y="40975"/>
                  </a:lnTo>
                  <a:cubicBezTo>
                    <a:pt x="0" y="18345"/>
                    <a:pt x="18345" y="0"/>
                    <a:pt x="4097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8395" r="0" b="-6762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4715193">
            <a:off x="15138245" y="-611318"/>
            <a:ext cx="2185443" cy="1656963"/>
          </a:xfrm>
          <a:custGeom>
            <a:avLst/>
            <a:gdLst/>
            <a:ahLst/>
            <a:cxnLst/>
            <a:rect r="r" b="b" t="t" l="l"/>
            <a:pathLst>
              <a:path h="1656963" w="2185443">
                <a:moveTo>
                  <a:pt x="0" y="0"/>
                </a:moveTo>
                <a:lnTo>
                  <a:pt x="2185443" y="0"/>
                </a:lnTo>
                <a:lnTo>
                  <a:pt x="2185443" y="1656963"/>
                </a:lnTo>
                <a:lnTo>
                  <a:pt x="0" y="1656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773780">
            <a:off x="-458886" y="8817229"/>
            <a:ext cx="1456343" cy="1276120"/>
          </a:xfrm>
          <a:custGeom>
            <a:avLst/>
            <a:gdLst/>
            <a:ahLst/>
            <a:cxnLst/>
            <a:rect r="r" b="b" t="t" l="l"/>
            <a:pathLst>
              <a:path h="1276120" w="1456343">
                <a:moveTo>
                  <a:pt x="0" y="0"/>
                </a:moveTo>
                <a:lnTo>
                  <a:pt x="1456343" y="0"/>
                </a:lnTo>
                <a:lnTo>
                  <a:pt x="1456343" y="1276120"/>
                </a:lnTo>
                <a:lnTo>
                  <a:pt x="0" y="12761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669272" y="6914758"/>
            <a:ext cx="4590028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COMMUNITY  &amp; SOCIAL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POST + GAMBAR · LIKE · REPLY · WISHLIST · RATING &amp; REVIEW · NOTIFIKASI MULTI-CHANNEL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349896" y="6914684"/>
            <a:ext cx="4590028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MARKETPLACE  &amp; RESERVASI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CRUD Produk/Jasa · Filter &amp; Search · Pag</a:t>
            </a: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INATION · RESERVE · ACCEPT/REJECT · TIMER REDIS</a:t>
            </a:r>
          </a:p>
          <a:p>
            <a:pPr algn="just">
              <a:lnSpc>
                <a:spcPts val="294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459082" y="6914758"/>
            <a:ext cx="4618058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AUTHENTICATION &amp; USER PROFILE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REGISTER · LOGIN · LOGOUT · SESSION JWT · PROFIL (FOTO, FAKULTAS, SOSMED) · PROTEKSI MIDDLEWARE</a:t>
            </a:r>
          </a:p>
          <a:p>
            <a:pPr algn="just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9082" y="1156947"/>
            <a:ext cx="7621397" cy="184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65"/>
              </a:lnSpc>
              <a:spcBef>
                <a:spcPct val="0"/>
              </a:spcBef>
            </a:pPr>
            <a:r>
              <a:rPr lang="en-US" sz="10189" b="true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API</a:t>
            </a:r>
          </a:p>
        </p:txBody>
      </p:sp>
      <p:grpSp>
        <p:nvGrpSpPr>
          <p:cNvPr name="Group 4" id="4"/>
          <p:cNvGrpSpPr/>
          <p:nvPr/>
        </p:nvGrpSpPr>
        <p:grpSpPr>
          <a:xfrm rot="-239746">
            <a:off x="1053729" y="587083"/>
            <a:ext cx="4726004" cy="883233"/>
            <a:chOff x="0" y="0"/>
            <a:chExt cx="6301338" cy="11776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40489"/>
              <a:ext cx="6301338" cy="1096666"/>
              <a:chOff x="0" y="0"/>
              <a:chExt cx="771031" cy="1341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71031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771031">
                    <a:moveTo>
                      <a:pt x="0" y="0"/>
                    </a:moveTo>
                    <a:lnTo>
                      <a:pt x="771031" y="0"/>
                    </a:lnTo>
                    <a:lnTo>
                      <a:pt x="771031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771031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4977" y="-28575"/>
              <a:ext cx="5291384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CURRENT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96347" y="3003947"/>
            <a:ext cx="4562953" cy="3292540"/>
            <a:chOff x="0" y="0"/>
            <a:chExt cx="931927" cy="672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1927" cy="672461"/>
            </a:xfrm>
            <a:custGeom>
              <a:avLst/>
              <a:gdLst/>
              <a:ahLst/>
              <a:cxnLst/>
              <a:rect r="r" b="b" t="t" l="l"/>
              <a:pathLst>
                <a:path h="672461" w="931927">
                  <a:moveTo>
                    <a:pt x="39024" y="0"/>
                  </a:moveTo>
                  <a:lnTo>
                    <a:pt x="892903" y="0"/>
                  </a:lnTo>
                  <a:cubicBezTo>
                    <a:pt x="903253" y="0"/>
                    <a:pt x="913179" y="4111"/>
                    <a:pt x="920497" y="11430"/>
                  </a:cubicBezTo>
                  <a:cubicBezTo>
                    <a:pt x="927816" y="18748"/>
                    <a:pt x="931927" y="28674"/>
                    <a:pt x="931927" y="39024"/>
                  </a:cubicBezTo>
                  <a:lnTo>
                    <a:pt x="931927" y="633437"/>
                  </a:lnTo>
                  <a:cubicBezTo>
                    <a:pt x="931927" y="643787"/>
                    <a:pt x="927816" y="653713"/>
                    <a:pt x="920497" y="661031"/>
                  </a:cubicBezTo>
                  <a:cubicBezTo>
                    <a:pt x="913179" y="668350"/>
                    <a:pt x="903253" y="672461"/>
                    <a:pt x="892903" y="672461"/>
                  </a:cubicBezTo>
                  <a:lnTo>
                    <a:pt x="39024" y="672461"/>
                  </a:lnTo>
                  <a:cubicBezTo>
                    <a:pt x="28674" y="672461"/>
                    <a:pt x="18748" y="668350"/>
                    <a:pt x="11430" y="661031"/>
                  </a:cubicBezTo>
                  <a:cubicBezTo>
                    <a:pt x="4111" y="653713"/>
                    <a:pt x="0" y="643787"/>
                    <a:pt x="0" y="633437"/>
                  </a:cubicBezTo>
                  <a:lnTo>
                    <a:pt x="0" y="39024"/>
                  </a:lnTo>
                  <a:cubicBezTo>
                    <a:pt x="0" y="28674"/>
                    <a:pt x="4111" y="18748"/>
                    <a:pt x="11430" y="11430"/>
                  </a:cubicBezTo>
                  <a:cubicBezTo>
                    <a:pt x="18748" y="4111"/>
                    <a:pt x="28674" y="0"/>
                    <a:pt x="39024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7648" b="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940869" y="3003947"/>
            <a:ext cx="4619372" cy="3292540"/>
            <a:chOff x="0" y="0"/>
            <a:chExt cx="943450" cy="672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3450" cy="672461"/>
            </a:xfrm>
            <a:custGeom>
              <a:avLst/>
              <a:gdLst/>
              <a:ahLst/>
              <a:cxnLst/>
              <a:rect r="r" b="b" t="t" l="l"/>
              <a:pathLst>
                <a:path h="672461" w="943450">
                  <a:moveTo>
                    <a:pt x="38547" y="0"/>
                  </a:moveTo>
                  <a:lnTo>
                    <a:pt x="904903" y="0"/>
                  </a:lnTo>
                  <a:cubicBezTo>
                    <a:pt x="926192" y="0"/>
                    <a:pt x="943450" y="17258"/>
                    <a:pt x="943450" y="38547"/>
                  </a:cubicBezTo>
                  <a:lnTo>
                    <a:pt x="943450" y="633914"/>
                  </a:lnTo>
                  <a:cubicBezTo>
                    <a:pt x="943450" y="644137"/>
                    <a:pt x="939389" y="653942"/>
                    <a:pt x="932160" y="661171"/>
                  </a:cubicBezTo>
                  <a:cubicBezTo>
                    <a:pt x="924931" y="668400"/>
                    <a:pt x="915126" y="672461"/>
                    <a:pt x="904903" y="672461"/>
                  </a:cubicBezTo>
                  <a:lnTo>
                    <a:pt x="38547" y="672461"/>
                  </a:lnTo>
                  <a:cubicBezTo>
                    <a:pt x="17258" y="672461"/>
                    <a:pt x="0" y="655203"/>
                    <a:pt x="0" y="633914"/>
                  </a:cubicBezTo>
                  <a:lnTo>
                    <a:pt x="0" y="38547"/>
                  </a:lnTo>
                  <a:cubicBezTo>
                    <a:pt x="0" y="17258"/>
                    <a:pt x="17258" y="0"/>
                    <a:pt x="3854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50" r="0" b="-135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23003" y="3003947"/>
            <a:ext cx="4713403" cy="3292540"/>
            <a:chOff x="0" y="0"/>
            <a:chExt cx="962655" cy="6724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2655" cy="672461"/>
            </a:xfrm>
            <a:custGeom>
              <a:avLst/>
              <a:gdLst/>
              <a:ahLst/>
              <a:cxnLst/>
              <a:rect r="r" b="b" t="t" l="l"/>
              <a:pathLst>
                <a:path h="672461" w="962655">
                  <a:moveTo>
                    <a:pt x="37778" y="0"/>
                  </a:moveTo>
                  <a:lnTo>
                    <a:pt x="924876" y="0"/>
                  </a:lnTo>
                  <a:cubicBezTo>
                    <a:pt x="934896" y="0"/>
                    <a:pt x="944505" y="3980"/>
                    <a:pt x="951590" y="11065"/>
                  </a:cubicBezTo>
                  <a:cubicBezTo>
                    <a:pt x="958675" y="18150"/>
                    <a:pt x="962655" y="27759"/>
                    <a:pt x="962655" y="37778"/>
                  </a:cubicBezTo>
                  <a:lnTo>
                    <a:pt x="962655" y="634683"/>
                  </a:lnTo>
                  <a:cubicBezTo>
                    <a:pt x="962655" y="655547"/>
                    <a:pt x="945741" y="672461"/>
                    <a:pt x="924876" y="672461"/>
                  </a:cubicBezTo>
                  <a:lnTo>
                    <a:pt x="37778" y="672461"/>
                  </a:lnTo>
                  <a:cubicBezTo>
                    <a:pt x="16914" y="672461"/>
                    <a:pt x="0" y="655547"/>
                    <a:pt x="0" y="634683"/>
                  </a:cubicBezTo>
                  <a:lnTo>
                    <a:pt x="0" y="37778"/>
                  </a:lnTo>
                  <a:cubicBezTo>
                    <a:pt x="0" y="16914"/>
                    <a:pt x="16914" y="0"/>
                    <a:pt x="3777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31357" b="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4715193">
            <a:off x="15138245" y="-611318"/>
            <a:ext cx="2185443" cy="1656963"/>
          </a:xfrm>
          <a:custGeom>
            <a:avLst/>
            <a:gdLst/>
            <a:ahLst/>
            <a:cxnLst/>
            <a:rect r="r" b="b" t="t" l="l"/>
            <a:pathLst>
              <a:path h="1656963" w="2185443">
                <a:moveTo>
                  <a:pt x="0" y="0"/>
                </a:moveTo>
                <a:lnTo>
                  <a:pt x="2185443" y="0"/>
                </a:lnTo>
                <a:lnTo>
                  <a:pt x="2185443" y="1656963"/>
                </a:lnTo>
                <a:lnTo>
                  <a:pt x="0" y="16569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773780">
            <a:off x="-458886" y="8817229"/>
            <a:ext cx="1456343" cy="1276120"/>
          </a:xfrm>
          <a:custGeom>
            <a:avLst/>
            <a:gdLst/>
            <a:ahLst/>
            <a:cxnLst/>
            <a:rect r="r" b="b" t="t" l="l"/>
            <a:pathLst>
              <a:path h="1276120" w="1456343">
                <a:moveTo>
                  <a:pt x="0" y="0"/>
                </a:moveTo>
                <a:lnTo>
                  <a:pt x="1456343" y="0"/>
                </a:lnTo>
                <a:lnTo>
                  <a:pt x="1456343" y="1276120"/>
                </a:lnTo>
                <a:lnTo>
                  <a:pt x="0" y="12761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23003" y="6653163"/>
            <a:ext cx="4713403" cy="3292540"/>
            <a:chOff x="0" y="0"/>
            <a:chExt cx="962655" cy="6724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2655" cy="672461"/>
            </a:xfrm>
            <a:custGeom>
              <a:avLst/>
              <a:gdLst/>
              <a:ahLst/>
              <a:cxnLst/>
              <a:rect r="r" b="b" t="t" l="l"/>
              <a:pathLst>
                <a:path h="672461" w="962655">
                  <a:moveTo>
                    <a:pt x="37778" y="0"/>
                  </a:moveTo>
                  <a:lnTo>
                    <a:pt x="924876" y="0"/>
                  </a:lnTo>
                  <a:cubicBezTo>
                    <a:pt x="934896" y="0"/>
                    <a:pt x="944505" y="3980"/>
                    <a:pt x="951590" y="11065"/>
                  </a:cubicBezTo>
                  <a:cubicBezTo>
                    <a:pt x="958675" y="18150"/>
                    <a:pt x="962655" y="27759"/>
                    <a:pt x="962655" y="37778"/>
                  </a:cubicBezTo>
                  <a:lnTo>
                    <a:pt x="962655" y="634683"/>
                  </a:lnTo>
                  <a:cubicBezTo>
                    <a:pt x="962655" y="655547"/>
                    <a:pt x="945741" y="672461"/>
                    <a:pt x="924876" y="672461"/>
                  </a:cubicBezTo>
                  <a:lnTo>
                    <a:pt x="37778" y="672461"/>
                  </a:lnTo>
                  <a:cubicBezTo>
                    <a:pt x="16914" y="672461"/>
                    <a:pt x="0" y="655547"/>
                    <a:pt x="0" y="634683"/>
                  </a:cubicBezTo>
                  <a:lnTo>
                    <a:pt x="0" y="37778"/>
                  </a:lnTo>
                  <a:cubicBezTo>
                    <a:pt x="0" y="16914"/>
                    <a:pt x="16914" y="0"/>
                    <a:pt x="37778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-11699" b="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940869" y="6653163"/>
            <a:ext cx="4659878" cy="3327539"/>
            <a:chOff x="0" y="0"/>
            <a:chExt cx="941713" cy="6724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1713" cy="672461"/>
            </a:xfrm>
            <a:custGeom>
              <a:avLst/>
              <a:gdLst/>
              <a:ahLst/>
              <a:cxnLst/>
              <a:rect r="r" b="b" t="t" l="l"/>
              <a:pathLst>
                <a:path h="672461" w="941713">
                  <a:moveTo>
                    <a:pt x="38212" y="0"/>
                  </a:moveTo>
                  <a:lnTo>
                    <a:pt x="903501" y="0"/>
                  </a:lnTo>
                  <a:cubicBezTo>
                    <a:pt x="913635" y="0"/>
                    <a:pt x="923354" y="4026"/>
                    <a:pt x="930521" y="11192"/>
                  </a:cubicBezTo>
                  <a:cubicBezTo>
                    <a:pt x="937687" y="18358"/>
                    <a:pt x="941713" y="28078"/>
                    <a:pt x="941713" y="38212"/>
                  </a:cubicBezTo>
                  <a:lnTo>
                    <a:pt x="941713" y="634249"/>
                  </a:lnTo>
                  <a:cubicBezTo>
                    <a:pt x="941713" y="655353"/>
                    <a:pt x="924605" y="672461"/>
                    <a:pt x="903501" y="672461"/>
                  </a:cubicBezTo>
                  <a:lnTo>
                    <a:pt x="38212" y="672461"/>
                  </a:lnTo>
                  <a:cubicBezTo>
                    <a:pt x="17108" y="672461"/>
                    <a:pt x="0" y="655353"/>
                    <a:pt x="0" y="634249"/>
                  </a:cubicBezTo>
                  <a:lnTo>
                    <a:pt x="0" y="38212"/>
                  </a:lnTo>
                  <a:cubicBezTo>
                    <a:pt x="0" y="17108"/>
                    <a:pt x="17108" y="0"/>
                    <a:pt x="38212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5214" r="0" b="-5214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696347" y="6758724"/>
            <a:ext cx="4562953" cy="3186979"/>
            <a:chOff x="0" y="0"/>
            <a:chExt cx="962795" cy="6724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2795" cy="672461"/>
            </a:xfrm>
            <a:custGeom>
              <a:avLst/>
              <a:gdLst/>
              <a:ahLst/>
              <a:cxnLst/>
              <a:rect r="r" b="b" t="t" l="l"/>
              <a:pathLst>
                <a:path h="672461" w="962795">
                  <a:moveTo>
                    <a:pt x="39024" y="0"/>
                  </a:moveTo>
                  <a:lnTo>
                    <a:pt x="923771" y="0"/>
                  </a:lnTo>
                  <a:cubicBezTo>
                    <a:pt x="934121" y="0"/>
                    <a:pt x="944047" y="4111"/>
                    <a:pt x="951365" y="11430"/>
                  </a:cubicBezTo>
                  <a:cubicBezTo>
                    <a:pt x="958683" y="18748"/>
                    <a:pt x="962795" y="28674"/>
                    <a:pt x="962795" y="39024"/>
                  </a:cubicBezTo>
                  <a:lnTo>
                    <a:pt x="962795" y="633437"/>
                  </a:lnTo>
                  <a:cubicBezTo>
                    <a:pt x="962795" y="643787"/>
                    <a:pt x="958683" y="653713"/>
                    <a:pt x="951365" y="661031"/>
                  </a:cubicBezTo>
                  <a:cubicBezTo>
                    <a:pt x="944047" y="668350"/>
                    <a:pt x="934121" y="672461"/>
                    <a:pt x="923771" y="672461"/>
                  </a:cubicBezTo>
                  <a:lnTo>
                    <a:pt x="39024" y="672461"/>
                  </a:lnTo>
                  <a:cubicBezTo>
                    <a:pt x="28674" y="672461"/>
                    <a:pt x="18748" y="668350"/>
                    <a:pt x="11430" y="661031"/>
                  </a:cubicBezTo>
                  <a:cubicBezTo>
                    <a:pt x="4111" y="653713"/>
                    <a:pt x="0" y="643787"/>
                    <a:pt x="0" y="633437"/>
                  </a:cubicBezTo>
                  <a:lnTo>
                    <a:pt x="0" y="39024"/>
                  </a:lnTo>
                  <a:cubicBezTo>
                    <a:pt x="0" y="28674"/>
                    <a:pt x="4111" y="18748"/>
                    <a:pt x="11430" y="11430"/>
                  </a:cubicBezTo>
                  <a:cubicBezTo>
                    <a:pt x="18748" y="4111"/>
                    <a:pt x="28674" y="0"/>
                    <a:pt x="39024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-9996" b="0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93162" y="1586905"/>
            <a:ext cx="9412866" cy="253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66"/>
              </a:lnSpc>
              <a:spcBef>
                <a:spcPct val="0"/>
              </a:spcBef>
            </a:pPr>
            <a:r>
              <a:rPr lang="en-US" b="true" sz="14047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Ou</a:t>
            </a:r>
            <a:r>
              <a:rPr lang="en-US" b="true" sz="14047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R TEAM</a:t>
            </a:r>
          </a:p>
        </p:txBody>
      </p:sp>
      <p:grpSp>
        <p:nvGrpSpPr>
          <p:cNvPr name="Group 4" id="4"/>
          <p:cNvGrpSpPr/>
          <p:nvPr/>
        </p:nvGrpSpPr>
        <p:grpSpPr>
          <a:xfrm rot="-73827">
            <a:off x="6519799" y="1539552"/>
            <a:ext cx="4726004" cy="883233"/>
            <a:chOff x="0" y="0"/>
            <a:chExt cx="6301338" cy="117764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40489"/>
              <a:ext cx="6301338" cy="1096666"/>
              <a:chOff x="0" y="0"/>
              <a:chExt cx="771031" cy="13418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71031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771031">
                    <a:moveTo>
                      <a:pt x="0" y="0"/>
                    </a:moveTo>
                    <a:lnTo>
                      <a:pt x="771031" y="0"/>
                    </a:lnTo>
                    <a:lnTo>
                      <a:pt x="771031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76200"/>
                <a:ext cx="771031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4977" y="-28575"/>
              <a:ext cx="5291384" cy="1206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799"/>
                </a:lnSpc>
              </a:pPr>
              <a:r>
                <a:rPr lang="en-US" b="true" sz="5811" spc="-116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MEET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5926" y="3913054"/>
            <a:ext cx="3540237" cy="3058855"/>
            <a:chOff x="0" y="0"/>
            <a:chExt cx="778288" cy="672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8288" cy="672461"/>
            </a:xfrm>
            <a:custGeom>
              <a:avLst/>
              <a:gdLst/>
              <a:ahLst/>
              <a:cxnLst/>
              <a:rect r="r" b="b" t="t" l="l"/>
              <a:pathLst>
                <a:path h="672461" w="778288">
                  <a:moveTo>
                    <a:pt x="50297" y="0"/>
                  </a:moveTo>
                  <a:lnTo>
                    <a:pt x="727991" y="0"/>
                  </a:lnTo>
                  <a:cubicBezTo>
                    <a:pt x="755770" y="0"/>
                    <a:pt x="778288" y="22519"/>
                    <a:pt x="778288" y="50297"/>
                  </a:cubicBezTo>
                  <a:lnTo>
                    <a:pt x="778288" y="622164"/>
                  </a:lnTo>
                  <a:cubicBezTo>
                    <a:pt x="778288" y="649942"/>
                    <a:pt x="755770" y="672461"/>
                    <a:pt x="727991" y="672461"/>
                  </a:cubicBezTo>
                  <a:lnTo>
                    <a:pt x="50297" y="672461"/>
                  </a:lnTo>
                  <a:cubicBezTo>
                    <a:pt x="22519" y="672461"/>
                    <a:pt x="0" y="649942"/>
                    <a:pt x="0" y="622164"/>
                  </a:cubicBezTo>
                  <a:lnTo>
                    <a:pt x="0" y="50297"/>
                  </a:lnTo>
                  <a:cubicBezTo>
                    <a:pt x="0" y="22519"/>
                    <a:pt x="22519" y="0"/>
                    <a:pt x="5029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75382" r="0" b="-75382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619739" y="3913054"/>
            <a:ext cx="3487962" cy="3058855"/>
            <a:chOff x="0" y="0"/>
            <a:chExt cx="766796" cy="6724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6796" cy="672461"/>
            </a:xfrm>
            <a:custGeom>
              <a:avLst/>
              <a:gdLst/>
              <a:ahLst/>
              <a:cxnLst/>
              <a:rect r="r" b="b" t="t" l="l"/>
              <a:pathLst>
                <a:path h="672461" w="766796">
                  <a:moveTo>
                    <a:pt x="51051" y="0"/>
                  </a:moveTo>
                  <a:lnTo>
                    <a:pt x="715745" y="0"/>
                  </a:lnTo>
                  <a:cubicBezTo>
                    <a:pt x="743940" y="0"/>
                    <a:pt x="766796" y="22856"/>
                    <a:pt x="766796" y="51051"/>
                  </a:cubicBezTo>
                  <a:lnTo>
                    <a:pt x="766796" y="621410"/>
                  </a:lnTo>
                  <a:cubicBezTo>
                    <a:pt x="766796" y="649605"/>
                    <a:pt x="743940" y="672461"/>
                    <a:pt x="715745" y="672461"/>
                  </a:cubicBezTo>
                  <a:lnTo>
                    <a:pt x="51051" y="672461"/>
                  </a:lnTo>
                  <a:cubicBezTo>
                    <a:pt x="22856" y="672461"/>
                    <a:pt x="0" y="649605"/>
                    <a:pt x="0" y="621410"/>
                  </a:cubicBezTo>
                  <a:lnTo>
                    <a:pt x="0" y="51051"/>
                  </a:lnTo>
                  <a:cubicBezTo>
                    <a:pt x="0" y="22856"/>
                    <a:pt x="22856" y="0"/>
                    <a:pt x="5105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71882" r="0" b="-71882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68791" y="3913054"/>
            <a:ext cx="3106371" cy="3058855"/>
            <a:chOff x="0" y="0"/>
            <a:chExt cx="682907" cy="6724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907" cy="672461"/>
            </a:xfrm>
            <a:custGeom>
              <a:avLst/>
              <a:gdLst/>
              <a:ahLst/>
              <a:cxnLst/>
              <a:rect r="r" b="b" t="t" l="l"/>
              <a:pathLst>
                <a:path h="672461" w="682907">
                  <a:moveTo>
                    <a:pt x="57322" y="0"/>
                  </a:moveTo>
                  <a:lnTo>
                    <a:pt x="625585" y="0"/>
                  </a:lnTo>
                  <a:cubicBezTo>
                    <a:pt x="640788" y="0"/>
                    <a:pt x="655368" y="6039"/>
                    <a:pt x="666118" y="16789"/>
                  </a:cubicBezTo>
                  <a:cubicBezTo>
                    <a:pt x="676868" y="27539"/>
                    <a:pt x="682907" y="42119"/>
                    <a:pt x="682907" y="57322"/>
                  </a:cubicBezTo>
                  <a:lnTo>
                    <a:pt x="682907" y="615139"/>
                  </a:lnTo>
                  <a:cubicBezTo>
                    <a:pt x="682907" y="630342"/>
                    <a:pt x="676868" y="644922"/>
                    <a:pt x="666118" y="655672"/>
                  </a:cubicBezTo>
                  <a:cubicBezTo>
                    <a:pt x="655368" y="666422"/>
                    <a:pt x="640788" y="672461"/>
                    <a:pt x="625585" y="672461"/>
                  </a:cubicBezTo>
                  <a:lnTo>
                    <a:pt x="57322" y="672461"/>
                  </a:lnTo>
                  <a:cubicBezTo>
                    <a:pt x="42119" y="672461"/>
                    <a:pt x="27539" y="666422"/>
                    <a:pt x="16789" y="655672"/>
                  </a:cubicBezTo>
                  <a:cubicBezTo>
                    <a:pt x="6039" y="644922"/>
                    <a:pt x="0" y="630342"/>
                    <a:pt x="0" y="615139"/>
                  </a:cubicBezTo>
                  <a:lnTo>
                    <a:pt x="0" y="57322"/>
                  </a:lnTo>
                  <a:cubicBezTo>
                    <a:pt x="0" y="42119"/>
                    <a:pt x="6039" y="27539"/>
                    <a:pt x="16789" y="16789"/>
                  </a:cubicBezTo>
                  <a:cubicBezTo>
                    <a:pt x="27539" y="6039"/>
                    <a:pt x="42119" y="0"/>
                    <a:pt x="5732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97714" r="0" b="-97714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842024" y="-168051"/>
            <a:ext cx="2185443" cy="1656963"/>
          </a:xfrm>
          <a:custGeom>
            <a:avLst/>
            <a:gdLst/>
            <a:ahLst/>
            <a:cxnLst/>
            <a:rect r="r" b="b" t="t" l="l"/>
            <a:pathLst>
              <a:path h="1656963" w="2185443">
                <a:moveTo>
                  <a:pt x="0" y="0"/>
                </a:moveTo>
                <a:lnTo>
                  <a:pt x="2185442" y="0"/>
                </a:lnTo>
                <a:lnTo>
                  <a:pt x="2185442" y="1656962"/>
                </a:lnTo>
                <a:lnTo>
                  <a:pt x="0" y="1656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4773780">
            <a:off x="-458886" y="8792476"/>
            <a:ext cx="1456343" cy="1276120"/>
          </a:xfrm>
          <a:custGeom>
            <a:avLst/>
            <a:gdLst/>
            <a:ahLst/>
            <a:cxnLst/>
            <a:rect r="r" b="b" t="t" l="l"/>
            <a:pathLst>
              <a:path h="1276120" w="1456343">
                <a:moveTo>
                  <a:pt x="0" y="0"/>
                </a:moveTo>
                <a:lnTo>
                  <a:pt x="1456343" y="0"/>
                </a:lnTo>
                <a:lnTo>
                  <a:pt x="1456343" y="1276120"/>
                </a:lnTo>
                <a:lnTo>
                  <a:pt x="0" y="12761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720353" y="3913054"/>
            <a:ext cx="3540237" cy="3058855"/>
            <a:chOff x="0" y="0"/>
            <a:chExt cx="778288" cy="6724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8288" cy="672461"/>
            </a:xfrm>
            <a:custGeom>
              <a:avLst/>
              <a:gdLst/>
              <a:ahLst/>
              <a:cxnLst/>
              <a:rect r="r" b="b" t="t" l="l"/>
              <a:pathLst>
                <a:path h="672461" w="778288">
                  <a:moveTo>
                    <a:pt x="50297" y="0"/>
                  </a:moveTo>
                  <a:lnTo>
                    <a:pt x="727991" y="0"/>
                  </a:lnTo>
                  <a:cubicBezTo>
                    <a:pt x="755770" y="0"/>
                    <a:pt x="778288" y="22519"/>
                    <a:pt x="778288" y="50297"/>
                  </a:cubicBezTo>
                  <a:lnTo>
                    <a:pt x="778288" y="622164"/>
                  </a:lnTo>
                  <a:cubicBezTo>
                    <a:pt x="778288" y="649942"/>
                    <a:pt x="755770" y="672461"/>
                    <a:pt x="727991" y="672461"/>
                  </a:cubicBezTo>
                  <a:lnTo>
                    <a:pt x="50297" y="672461"/>
                  </a:lnTo>
                  <a:cubicBezTo>
                    <a:pt x="22519" y="672461"/>
                    <a:pt x="0" y="649942"/>
                    <a:pt x="0" y="622164"/>
                  </a:cubicBezTo>
                  <a:lnTo>
                    <a:pt x="0" y="50297"/>
                  </a:lnTo>
                  <a:cubicBezTo>
                    <a:pt x="0" y="22519"/>
                    <a:pt x="22519" y="0"/>
                    <a:pt x="50297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84241" r="0" b="-84241"/>
              </a:stretch>
            </a:blipFill>
            <a:ln w="57150" cap="rnd">
              <a:solidFill>
                <a:srgbClr val="B22222"/>
              </a:solidFill>
              <a:prstDash val="solid"/>
              <a:round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4270005" y="7166923"/>
            <a:ext cx="4481712" cy="3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-43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MUHAMAD RIFQI FADIL ITSNAIN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61689" y="7597357"/>
            <a:ext cx="45900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86518" y="7160540"/>
            <a:ext cx="441699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b="true" sz="2200" spc="-44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MARSHAL AUFA DILIYANA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259555" y="7597357"/>
            <a:ext cx="45900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535453" y="7160540"/>
            <a:ext cx="45900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-43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YUSRI SUKUR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35453" y="7597357"/>
            <a:ext cx="45900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96971" y="7160540"/>
            <a:ext cx="178700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-43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ZAHIR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25480" y="7597357"/>
            <a:ext cx="459002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B22222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312226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b="true" sz="2400" spc="-48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SISTEM BASIS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29525" y="8833485"/>
            <a:ext cx="672977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400" spc="-48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KELOMPOK 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74869" y="2123252"/>
            <a:ext cx="13683396" cy="438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4"/>
              </a:lnSpc>
              <a:spcBef>
                <a:spcPct val="0"/>
              </a:spcBef>
            </a:pPr>
            <a:r>
              <a:rPr lang="en-US" b="true" sz="24302">
                <a:solidFill>
                  <a:srgbClr val="B22222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</p:txBody>
      </p:sp>
      <p:grpSp>
        <p:nvGrpSpPr>
          <p:cNvPr name="Group 6" id="6"/>
          <p:cNvGrpSpPr/>
          <p:nvPr/>
        </p:nvGrpSpPr>
        <p:grpSpPr>
          <a:xfrm rot="-239746">
            <a:off x="5952116" y="5745187"/>
            <a:ext cx="5928903" cy="1528047"/>
            <a:chOff x="0" y="0"/>
            <a:chExt cx="7905203" cy="203739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70049"/>
              <a:ext cx="7905203" cy="1897298"/>
              <a:chOff x="0" y="0"/>
              <a:chExt cx="559102" cy="13418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9102" cy="134188"/>
              </a:xfrm>
              <a:custGeom>
                <a:avLst/>
                <a:gdLst/>
                <a:ahLst/>
                <a:cxnLst/>
                <a:rect r="r" b="b" t="t" l="l"/>
                <a:pathLst>
                  <a:path h="134188" w="559102">
                    <a:moveTo>
                      <a:pt x="0" y="0"/>
                    </a:moveTo>
                    <a:lnTo>
                      <a:pt x="559102" y="0"/>
                    </a:lnTo>
                    <a:lnTo>
                      <a:pt x="559102" y="134188"/>
                    </a:lnTo>
                    <a:lnTo>
                      <a:pt x="0" y="134188"/>
                    </a:lnTo>
                    <a:close/>
                  </a:path>
                </a:pathLst>
              </a:custGeom>
              <a:solidFill>
                <a:srgbClr val="FFC10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76200"/>
                <a:ext cx="559102" cy="2103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25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33508" y="-66675"/>
              <a:ext cx="6638187" cy="21040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63"/>
                </a:lnSpc>
              </a:pPr>
              <a:r>
                <a:rPr lang="en-US" b="true" sz="10054" spc="-201">
                  <a:solidFill>
                    <a:srgbClr val="EEEE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12279" y="5540473"/>
            <a:ext cx="2185443" cy="1656963"/>
          </a:xfrm>
          <a:custGeom>
            <a:avLst/>
            <a:gdLst/>
            <a:ahLst/>
            <a:cxnLst/>
            <a:rect r="r" b="b" t="t" l="l"/>
            <a:pathLst>
              <a:path h="1656963" w="2185443">
                <a:moveTo>
                  <a:pt x="0" y="0"/>
                </a:moveTo>
                <a:lnTo>
                  <a:pt x="2185443" y="0"/>
                </a:lnTo>
                <a:lnTo>
                  <a:pt x="2185443" y="1656963"/>
                </a:lnTo>
                <a:lnTo>
                  <a:pt x="0" y="16569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773780">
            <a:off x="17290543" y="2654631"/>
            <a:ext cx="1456343" cy="1276120"/>
          </a:xfrm>
          <a:custGeom>
            <a:avLst/>
            <a:gdLst/>
            <a:ahLst/>
            <a:cxnLst/>
            <a:rect r="r" b="b" t="t" l="l"/>
            <a:pathLst>
              <a:path h="1276120" w="1456343">
                <a:moveTo>
                  <a:pt x="0" y="0"/>
                </a:moveTo>
                <a:lnTo>
                  <a:pt x="1456343" y="0"/>
                </a:lnTo>
                <a:lnTo>
                  <a:pt x="1456343" y="1276121"/>
                </a:lnTo>
                <a:lnTo>
                  <a:pt x="0" y="12761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606126" y="0"/>
            <a:ext cx="2681874" cy="1468295"/>
            <a:chOff x="0" y="0"/>
            <a:chExt cx="3575832" cy="195772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575832" cy="1957727"/>
              <a:chOff x="0" y="0"/>
              <a:chExt cx="706337" cy="38671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06337" cy="386711"/>
              </a:xfrm>
              <a:custGeom>
                <a:avLst/>
                <a:gdLst/>
                <a:ahLst/>
                <a:cxnLst/>
                <a:rect r="r" b="b" t="t" l="l"/>
                <a:pathLst>
                  <a:path h="386711" w="706337">
                    <a:moveTo>
                      <a:pt x="57735" y="0"/>
                    </a:moveTo>
                    <a:lnTo>
                      <a:pt x="648602" y="0"/>
                    </a:lnTo>
                    <a:cubicBezTo>
                      <a:pt x="680488" y="0"/>
                      <a:pt x="706337" y="25849"/>
                      <a:pt x="706337" y="57735"/>
                    </a:cubicBezTo>
                    <a:lnTo>
                      <a:pt x="706337" y="328976"/>
                    </a:lnTo>
                    <a:cubicBezTo>
                      <a:pt x="706337" y="360863"/>
                      <a:pt x="680488" y="386711"/>
                      <a:pt x="648602" y="386711"/>
                    </a:cubicBezTo>
                    <a:lnTo>
                      <a:pt x="57735" y="386711"/>
                    </a:lnTo>
                    <a:cubicBezTo>
                      <a:pt x="25849" y="386711"/>
                      <a:pt x="0" y="360863"/>
                      <a:pt x="0" y="328976"/>
                    </a:cubicBezTo>
                    <a:lnTo>
                      <a:pt x="0" y="57735"/>
                    </a:lnTo>
                    <a:cubicBezTo>
                      <a:pt x="0" y="25849"/>
                      <a:pt x="25849" y="0"/>
                      <a:pt x="577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706337" cy="3676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574223"/>
              <a:ext cx="3575832" cy="383504"/>
              <a:chOff x="0" y="0"/>
              <a:chExt cx="706337" cy="7575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06337" cy="75754"/>
              </a:xfrm>
              <a:custGeom>
                <a:avLst/>
                <a:gdLst/>
                <a:ahLst/>
                <a:cxnLst/>
                <a:rect r="r" b="b" t="t" l="l"/>
                <a:pathLst>
                  <a:path h="75754" w="706337">
                    <a:moveTo>
                      <a:pt x="28868" y="0"/>
                    </a:moveTo>
                    <a:lnTo>
                      <a:pt x="677470" y="0"/>
                    </a:lnTo>
                    <a:cubicBezTo>
                      <a:pt x="693413" y="0"/>
                      <a:pt x="706337" y="12924"/>
                      <a:pt x="706337" y="28868"/>
                    </a:cubicBezTo>
                    <a:lnTo>
                      <a:pt x="706337" y="46886"/>
                    </a:lnTo>
                    <a:cubicBezTo>
                      <a:pt x="706337" y="54542"/>
                      <a:pt x="703296" y="61885"/>
                      <a:pt x="697882" y="67299"/>
                    </a:cubicBezTo>
                    <a:cubicBezTo>
                      <a:pt x="692468" y="72712"/>
                      <a:pt x="685126" y="75754"/>
                      <a:pt x="677470" y="75754"/>
                    </a:cubicBezTo>
                    <a:lnTo>
                      <a:pt x="28868" y="75754"/>
                    </a:lnTo>
                    <a:cubicBezTo>
                      <a:pt x="12924" y="75754"/>
                      <a:pt x="0" y="62829"/>
                      <a:pt x="0" y="46886"/>
                    </a:cubicBezTo>
                    <a:lnTo>
                      <a:pt x="0" y="28868"/>
                    </a:lnTo>
                    <a:cubicBezTo>
                      <a:pt x="0" y="12924"/>
                      <a:pt x="12924" y="0"/>
                      <a:pt x="28868" y="0"/>
                    </a:cubicBezTo>
                    <a:close/>
                  </a:path>
                </a:pathLst>
              </a:custGeom>
              <a:solidFill>
                <a:srgbClr val="76B34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706337" cy="567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123910"/>
              <a:ext cx="3575832" cy="1713185"/>
              <a:chOff x="0" y="0"/>
              <a:chExt cx="706337" cy="33840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06337" cy="338407"/>
              </a:xfrm>
              <a:custGeom>
                <a:avLst/>
                <a:gdLst/>
                <a:ahLst/>
                <a:cxnLst/>
                <a:rect r="r" b="b" t="t" l="l"/>
                <a:pathLst>
                  <a:path h="338407" w="706337">
                    <a:moveTo>
                      <a:pt x="0" y="0"/>
                    </a:moveTo>
                    <a:lnTo>
                      <a:pt x="706337" y="0"/>
                    </a:lnTo>
                    <a:lnTo>
                      <a:pt x="706337" y="338407"/>
                    </a:lnTo>
                    <a:lnTo>
                      <a:pt x="0" y="338407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706337" cy="3193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7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221509" y="459845"/>
              <a:ext cx="3132815" cy="1241378"/>
            </a:xfrm>
            <a:custGeom>
              <a:avLst/>
              <a:gdLst/>
              <a:ahLst/>
              <a:cxnLst/>
              <a:rect r="r" b="b" t="t" l="l"/>
              <a:pathLst>
                <a:path h="1241378" w="3132815">
                  <a:moveTo>
                    <a:pt x="0" y="0"/>
                  </a:moveTo>
                  <a:lnTo>
                    <a:pt x="3132815" y="0"/>
                  </a:lnTo>
                  <a:lnTo>
                    <a:pt x="3132815" y="1241378"/>
                  </a:lnTo>
                  <a:lnTo>
                    <a:pt x="0" y="1241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DAHJ1Lr-FCQ</dc:identifier>
  <dcterms:modified xsi:type="dcterms:W3CDTF">2011-08-01T06:04:30Z</dcterms:modified>
  <cp:revision>1</cp:revision>
  <dc:title>PPT_FINPRO_KELOMPOK 12</dc:title>
</cp:coreProperties>
</file>